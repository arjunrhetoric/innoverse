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3190"/>
              </a:lnSpc>
            </a:pPr>
            <a:r>
              <a:rPr spc="-25" dirty="0"/>
              <a:t>Organized</a:t>
            </a:r>
            <a:r>
              <a:rPr spc="-110" dirty="0"/>
              <a:t> </a:t>
            </a:r>
            <a:r>
              <a:rPr spc="-25" dirty="0"/>
              <a:t>by: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3190"/>
              </a:lnSpc>
            </a:pPr>
            <a:r>
              <a:rPr spc="-25" dirty="0"/>
              <a:t>Organized</a:t>
            </a:r>
            <a:r>
              <a:rPr spc="-110" dirty="0"/>
              <a:t> </a:t>
            </a:r>
            <a:r>
              <a:rPr spc="-25" dirty="0"/>
              <a:t>by: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3190"/>
              </a:lnSpc>
            </a:pPr>
            <a:r>
              <a:rPr spc="-25" dirty="0"/>
              <a:t>Organized</a:t>
            </a:r>
            <a:r>
              <a:rPr spc="-110" dirty="0"/>
              <a:t> </a:t>
            </a:r>
            <a:r>
              <a:rPr spc="-25" dirty="0"/>
              <a:t>by: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3190"/>
              </a:lnSpc>
            </a:pPr>
            <a:r>
              <a:rPr spc="-25" dirty="0"/>
              <a:t>Organized</a:t>
            </a:r>
            <a:r>
              <a:rPr spc="-110" dirty="0"/>
              <a:t> </a:t>
            </a:r>
            <a:r>
              <a:rPr spc="-25" dirty="0"/>
              <a:t>by: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3190"/>
              </a:lnSpc>
            </a:pPr>
            <a:r>
              <a:rPr spc="-25" dirty="0"/>
              <a:t>Organized</a:t>
            </a:r>
            <a:r>
              <a:rPr spc="-110" dirty="0"/>
              <a:t> </a:t>
            </a:r>
            <a:r>
              <a:rPr spc="-25" dirty="0"/>
              <a:t>by: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000616"/>
            <a:ext cx="18288000" cy="1286510"/>
          </a:xfrm>
          <a:custGeom>
            <a:avLst/>
            <a:gdLst/>
            <a:ahLst/>
            <a:cxnLst/>
            <a:rect l="l" t="t" r="r" b="b"/>
            <a:pathLst>
              <a:path w="18288000" h="1286509">
                <a:moveTo>
                  <a:pt x="18021427" y="0"/>
                </a:moveTo>
                <a:lnTo>
                  <a:pt x="266560" y="0"/>
                </a:lnTo>
                <a:lnTo>
                  <a:pt x="218643" y="4190"/>
                </a:lnTo>
                <a:lnTo>
                  <a:pt x="173545" y="16624"/>
                </a:lnTo>
                <a:lnTo>
                  <a:pt x="132016" y="36347"/>
                </a:lnTo>
                <a:lnTo>
                  <a:pt x="94815" y="62649"/>
                </a:lnTo>
                <a:lnTo>
                  <a:pt x="62689" y="94767"/>
                </a:lnTo>
                <a:lnTo>
                  <a:pt x="36391" y="131978"/>
                </a:lnTo>
                <a:lnTo>
                  <a:pt x="16676" y="173494"/>
                </a:lnTo>
                <a:lnTo>
                  <a:pt x="4293" y="218592"/>
                </a:lnTo>
                <a:lnTo>
                  <a:pt x="0" y="266509"/>
                </a:lnTo>
                <a:lnTo>
                  <a:pt x="0" y="1286382"/>
                </a:lnTo>
                <a:lnTo>
                  <a:pt x="18288000" y="1286382"/>
                </a:lnTo>
                <a:lnTo>
                  <a:pt x="18288000" y="266509"/>
                </a:lnTo>
                <a:lnTo>
                  <a:pt x="18282793" y="214261"/>
                </a:lnTo>
                <a:lnTo>
                  <a:pt x="18267680" y="164503"/>
                </a:lnTo>
                <a:lnTo>
                  <a:pt x="18243169" y="118630"/>
                </a:lnTo>
                <a:lnTo>
                  <a:pt x="18209895" y="78028"/>
                </a:lnTo>
                <a:lnTo>
                  <a:pt x="18169382" y="44742"/>
                </a:lnTo>
                <a:lnTo>
                  <a:pt x="18123408" y="20243"/>
                </a:lnTo>
                <a:lnTo>
                  <a:pt x="18073751" y="5079"/>
                </a:lnTo>
                <a:lnTo>
                  <a:pt x="18021427" y="0"/>
                </a:lnTo>
                <a:close/>
              </a:path>
            </a:pathLst>
          </a:custGeom>
          <a:solidFill>
            <a:srgbClr val="77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9000616"/>
            <a:ext cx="18288000" cy="1286510"/>
          </a:xfrm>
          <a:custGeom>
            <a:avLst/>
            <a:gdLst/>
            <a:ahLst/>
            <a:cxnLst/>
            <a:rect l="l" t="t" r="r" b="b"/>
            <a:pathLst>
              <a:path w="18288000" h="1286509">
                <a:moveTo>
                  <a:pt x="0" y="266509"/>
                </a:moveTo>
                <a:lnTo>
                  <a:pt x="4293" y="218592"/>
                </a:lnTo>
                <a:lnTo>
                  <a:pt x="16676" y="173494"/>
                </a:lnTo>
                <a:lnTo>
                  <a:pt x="36391" y="131978"/>
                </a:lnTo>
                <a:lnTo>
                  <a:pt x="62689" y="94767"/>
                </a:lnTo>
                <a:lnTo>
                  <a:pt x="94815" y="62649"/>
                </a:lnTo>
                <a:lnTo>
                  <a:pt x="132016" y="36347"/>
                </a:lnTo>
                <a:lnTo>
                  <a:pt x="173545" y="16624"/>
                </a:lnTo>
                <a:lnTo>
                  <a:pt x="218643" y="4190"/>
                </a:lnTo>
                <a:lnTo>
                  <a:pt x="266560" y="0"/>
                </a:lnTo>
                <a:lnTo>
                  <a:pt x="18021427" y="0"/>
                </a:lnTo>
                <a:lnTo>
                  <a:pt x="18073751" y="5079"/>
                </a:lnTo>
                <a:lnTo>
                  <a:pt x="18123408" y="20243"/>
                </a:lnTo>
                <a:lnTo>
                  <a:pt x="18169382" y="44742"/>
                </a:lnTo>
                <a:lnTo>
                  <a:pt x="18209895" y="78028"/>
                </a:lnTo>
                <a:lnTo>
                  <a:pt x="18243169" y="118630"/>
                </a:lnTo>
                <a:lnTo>
                  <a:pt x="18267680" y="164503"/>
                </a:lnTo>
                <a:lnTo>
                  <a:pt x="18282793" y="214261"/>
                </a:lnTo>
                <a:lnTo>
                  <a:pt x="18288000" y="266509"/>
                </a:lnTo>
                <a:lnTo>
                  <a:pt x="18288000" y="1286382"/>
                </a:lnTo>
              </a:path>
              <a:path w="18288000" h="1286509">
                <a:moveTo>
                  <a:pt x="0" y="1286382"/>
                </a:moveTo>
                <a:lnTo>
                  <a:pt x="0" y="266509"/>
                </a:lnTo>
              </a:path>
            </a:pathLst>
          </a:custGeom>
          <a:ln w="25398">
            <a:solidFill>
              <a:srgbClr val="77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69817" y="9066709"/>
            <a:ext cx="2645791" cy="110648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440029" y="408012"/>
            <a:ext cx="3159632" cy="59135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292836" y="1275461"/>
            <a:ext cx="4284599" cy="194208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0" y="782193"/>
            <a:ext cx="646684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9740" y="1967229"/>
            <a:ext cx="11090275" cy="6000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48664" y="9104890"/>
            <a:ext cx="2362835" cy="422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3190"/>
              </a:lnSpc>
            </a:pPr>
            <a:r>
              <a:rPr spc="-25" dirty="0"/>
              <a:t>Organized</a:t>
            </a:r>
            <a:r>
              <a:rPr spc="-110" dirty="0"/>
              <a:t> </a:t>
            </a:r>
            <a:r>
              <a:rPr spc="-25" dirty="0"/>
              <a:t>by: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jp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3.jp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40029" y="408012"/>
            <a:ext cx="3159632" cy="5913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92836" y="1275461"/>
            <a:ext cx="4284599" cy="19420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38296" y="3342335"/>
            <a:ext cx="2083053" cy="38054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185007" y="2911551"/>
            <a:ext cx="15113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/>
                <a:cs typeface="Arial"/>
              </a:rPr>
              <a:t>Powered</a:t>
            </a:r>
            <a:r>
              <a:rPr sz="2000" b="1" spc="-16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by: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12699" y="8987917"/>
            <a:ext cx="18313400" cy="1311910"/>
            <a:chOff x="-12699" y="8987917"/>
            <a:chExt cx="18313400" cy="1311910"/>
          </a:xfrm>
        </p:grpSpPr>
        <p:sp>
          <p:nvSpPr>
            <p:cNvPr id="7" name="object 7"/>
            <p:cNvSpPr/>
            <p:nvPr/>
          </p:nvSpPr>
          <p:spPr>
            <a:xfrm>
              <a:off x="0" y="9000616"/>
              <a:ext cx="18288000" cy="1286510"/>
            </a:xfrm>
            <a:custGeom>
              <a:avLst/>
              <a:gdLst/>
              <a:ahLst/>
              <a:cxnLst/>
              <a:rect l="l" t="t" r="r" b="b"/>
              <a:pathLst>
                <a:path w="18288000" h="1286509">
                  <a:moveTo>
                    <a:pt x="18021427" y="0"/>
                  </a:moveTo>
                  <a:lnTo>
                    <a:pt x="266560" y="0"/>
                  </a:lnTo>
                  <a:lnTo>
                    <a:pt x="218643" y="4190"/>
                  </a:lnTo>
                  <a:lnTo>
                    <a:pt x="173545" y="16624"/>
                  </a:lnTo>
                  <a:lnTo>
                    <a:pt x="132016" y="36347"/>
                  </a:lnTo>
                  <a:lnTo>
                    <a:pt x="94815" y="62649"/>
                  </a:lnTo>
                  <a:lnTo>
                    <a:pt x="62689" y="94767"/>
                  </a:lnTo>
                  <a:lnTo>
                    <a:pt x="36391" y="131978"/>
                  </a:lnTo>
                  <a:lnTo>
                    <a:pt x="16676" y="173494"/>
                  </a:lnTo>
                  <a:lnTo>
                    <a:pt x="4293" y="218592"/>
                  </a:lnTo>
                  <a:lnTo>
                    <a:pt x="0" y="266509"/>
                  </a:lnTo>
                  <a:lnTo>
                    <a:pt x="0" y="1286382"/>
                  </a:lnTo>
                  <a:lnTo>
                    <a:pt x="18288000" y="1286382"/>
                  </a:lnTo>
                  <a:lnTo>
                    <a:pt x="18288000" y="266509"/>
                  </a:lnTo>
                  <a:lnTo>
                    <a:pt x="18282793" y="214261"/>
                  </a:lnTo>
                  <a:lnTo>
                    <a:pt x="18267680" y="164503"/>
                  </a:lnTo>
                  <a:lnTo>
                    <a:pt x="18243169" y="118630"/>
                  </a:lnTo>
                  <a:lnTo>
                    <a:pt x="18209895" y="78028"/>
                  </a:lnTo>
                  <a:lnTo>
                    <a:pt x="18169382" y="44742"/>
                  </a:lnTo>
                  <a:lnTo>
                    <a:pt x="18123408" y="20243"/>
                  </a:lnTo>
                  <a:lnTo>
                    <a:pt x="18073751" y="5079"/>
                  </a:lnTo>
                  <a:lnTo>
                    <a:pt x="18021427" y="0"/>
                  </a:lnTo>
                  <a:close/>
                </a:path>
              </a:pathLst>
            </a:custGeom>
            <a:solidFill>
              <a:srgbClr val="77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000616"/>
              <a:ext cx="18288000" cy="1286510"/>
            </a:xfrm>
            <a:custGeom>
              <a:avLst/>
              <a:gdLst/>
              <a:ahLst/>
              <a:cxnLst/>
              <a:rect l="l" t="t" r="r" b="b"/>
              <a:pathLst>
                <a:path w="18288000" h="1286509">
                  <a:moveTo>
                    <a:pt x="0" y="266509"/>
                  </a:moveTo>
                  <a:lnTo>
                    <a:pt x="4293" y="218592"/>
                  </a:lnTo>
                  <a:lnTo>
                    <a:pt x="16676" y="173494"/>
                  </a:lnTo>
                  <a:lnTo>
                    <a:pt x="36391" y="131978"/>
                  </a:lnTo>
                  <a:lnTo>
                    <a:pt x="62689" y="94767"/>
                  </a:lnTo>
                  <a:lnTo>
                    <a:pt x="94815" y="62649"/>
                  </a:lnTo>
                  <a:lnTo>
                    <a:pt x="132016" y="36347"/>
                  </a:lnTo>
                  <a:lnTo>
                    <a:pt x="173545" y="16624"/>
                  </a:lnTo>
                  <a:lnTo>
                    <a:pt x="218643" y="4190"/>
                  </a:lnTo>
                  <a:lnTo>
                    <a:pt x="266560" y="0"/>
                  </a:lnTo>
                  <a:lnTo>
                    <a:pt x="18021427" y="0"/>
                  </a:lnTo>
                  <a:lnTo>
                    <a:pt x="18073751" y="5079"/>
                  </a:lnTo>
                  <a:lnTo>
                    <a:pt x="18123408" y="20243"/>
                  </a:lnTo>
                  <a:lnTo>
                    <a:pt x="18169382" y="44742"/>
                  </a:lnTo>
                  <a:lnTo>
                    <a:pt x="18209895" y="78028"/>
                  </a:lnTo>
                  <a:lnTo>
                    <a:pt x="18243169" y="118630"/>
                  </a:lnTo>
                  <a:lnTo>
                    <a:pt x="18267680" y="164503"/>
                  </a:lnTo>
                  <a:lnTo>
                    <a:pt x="18282793" y="214261"/>
                  </a:lnTo>
                  <a:lnTo>
                    <a:pt x="18288000" y="266509"/>
                  </a:lnTo>
                  <a:lnTo>
                    <a:pt x="18288000" y="1286382"/>
                  </a:lnTo>
                </a:path>
                <a:path w="18288000" h="1286509">
                  <a:moveTo>
                    <a:pt x="0" y="1286382"/>
                  </a:moveTo>
                  <a:lnTo>
                    <a:pt x="0" y="266509"/>
                  </a:lnTo>
                </a:path>
              </a:pathLst>
            </a:custGeom>
            <a:ln w="25398">
              <a:solidFill>
                <a:srgbClr val="77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69817" y="9066709"/>
              <a:ext cx="2645791" cy="110648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12367" y="795908"/>
            <a:ext cx="21837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Arial"/>
                <a:cs typeface="Arial"/>
              </a:rPr>
              <a:t>PS</a:t>
            </a:r>
            <a:r>
              <a:rPr sz="3000" b="1" spc="20" dirty="0">
                <a:latin typeface="Arial"/>
                <a:cs typeface="Arial"/>
              </a:rPr>
              <a:t> </a:t>
            </a:r>
            <a:r>
              <a:rPr sz="3000" b="1" dirty="0">
                <a:latin typeface="Arial"/>
                <a:cs typeface="Arial"/>
              </a:rPr>
              <a:t>ID:</a:t>
            </a:r>
            <a:r>
              <a:rPr sz="3000" b="1" spc="-65" dirty="0">
                <a:latin typeface="Arial"/>
                <a:cs typeface="Arial"/>
              </a:rPr>
              <a:t> </a:t>
            </a:r>
            <a:r>
              <a:rPr sz="3000" b="1" spc="-50" dirty="0">
                <a:latin typeface="Arial"/>
                <a:cs typeface="Arial"/>
              </a:rPr>
              <a:t>OI-</a:t>
            </a:r>
            <a:r>
              <a:rPr sz="3000" b="1" spc="-25" dirty="0">
                <a:latin typeface="Arial"/>
                <a:cs typeface="Arial"/>
              </a:rPr>
              <a:t>10</a:t>
            </a:r>
            <a:endParaRPr sz="30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0"/>
              </a:lnSpc>
            </a:pPr>
            <a:r>
              <a:rPr spc="-25" dirty="0"/>
              <a:t>Organized</a:t>
            </a:r>
            <a:r>
              <a:rPr spc="-110" dirty="0"/>
              <a:t> </a:t>
            </a:r>
            <a:r>
              <a:rPr spc="-25" dirty="0"/>
              <a:t>by: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911453" y="2249805"/>
            <a:ext cx="109905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PS</a:t>
            </a:r>
            <a:r>
              <a:rPr b="1" spc="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0000"/>
                </a:solidFill>
                <a:latin typeface="Arial"/>
                <a:cs typeface="Arial"/>
              </a:rPr>
              <a:t>Title: </a:t>
            </a: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Custom</a:t>
            </a:r>
            <a:r>
              <a:rPr sz="32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Collaboration</a:t>
            </a:r>
            <a:r>
              <a:rPr sz="32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Platform</a:t>
            </a:r>
            <a:r>
              <a:rPr sz="32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32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Students</a:t>
            </a:r>
            <a:r>
              <a:rPr sz="32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32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00"/>
                </a:solidFill>
                <a:latin typeface="Times New Roman"/>
                <a:cs typeface="Times New Roman"/>
              </a:rPr>
              <a:t>Startups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1453" y="3694633"/>
            <a:ext cx="7595870" cy="4941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Arial"/>
                <a:cs typeface="Arial"/>
              </a:rPr>
              <a:t>Team</a:t>
            </a:r>
            <a:r>
              <a:rPr sz="3000" b="1" spc="-25" dirty="0">
                <a:latin typeface="Arial"/>
                <a:cs typeface="Arial"/>
              </a:rPr>
              <a:t> </a:t>
            </a:r>
            <a:r>
              <a:rPr sz="3000" b="1" dirty="0">
                <a:latin typeface="Arial"/>
                <a:cs typeface="Arial"/>
              </a:rPr>
              <a:t>Name:</a:t>
            </a:r>
            <a:r>
              <a:rPr sz="3000" b="1" spc="-85" dirty="0">
                <a:latin typeface="Arial"/>
                <a:cs typeface="Arial"/>
              </a:rPr>
              <a:t> </a:t>
            </a:r>
            <a:r>
              <a:rPr sz="3000" b="1" spc="-10" dirty="0">
                <a:latin typeface="Arial"/>
                <a:cs typeface="Arial"/>
              </a:rPr>
              <a:t>HyperScript</a:t>
            </a:r>
            <a:r>
              <a:rPr sz="3000" b="1" spc="-80" dirty="0">
                <a:latin typeface="Arial"/>
                <a:cs typeface="Arial"/>
              </a:rPr>
              <a:t> </a:t>
            </a:r>
            <a:r>
              <a:rPr sz="3000" b="1" spc="-10" dirty="0">
                <a:latin typeface="Arial"/>
                <a:cs typeface="Arial"/>
              </a:rPr>
              <a:t>Surge</a:t>
            </a:r>
            <a:endParaRPr sz="3000">
              <a:latin typeface="Arial"/>
              <a:cs typeface="Arial"/>
            </a:endParaRPr>
          </a:p>
          <a:p>
            <a:pPr marL="12700" marR="5080">
              <a:lnSpc>
                <a:spcPts val="11700"/>
              </a:lnSpc>
              <a:spcBef>
                <a:spcPts val="1545"/>
              </a:spcBef>
            </a:pPr>
            <a:r>
              <a:rPr sz="3000" b="1" dirty="0">
                <a:latin typeface="Arial"/>
                <a:cs typeface="Arial"/>
              </a:rPr>
              <a:t>Team</a:t>
            </a:r>
            <a:r>
              <a:rPr sz="3000" b="1" spc="75" dirty="0">
                <a:latin typeface="Arial"/>
                <a:cs typeface="Arial"/>
              </a:rPr>
              <a:t> </a:t>
            </a:r>
            <a:r>
              <a:rPr sz="3000" b="1" dirty="0">
                <a:latin typeface="Arial"/>
                <a:cs typeface="Arial"/>
              </a:rPr>
              <a:t>Leader</a:t>
            </a:r>
            <a:r>
              <a:rPr sz="3000" b="1" spc="190" dirty="0">
                <a:latin typeface="Arial"/>
                <a:cs typeface="Arial"/>
              </a:rPr>
              <a:t> </a:t>
            </a:r>
            <a:r>
              <a:rPr sz="3000" b="1" dirty="0">
                <a:latin typeface="Arial"/>
                <a:cs typeface="Arial"/>
              </a:rPr>
              <a:t>Name:</a:t>
            </a:r>
            <a:r>
              <a:rPr sz="3000" b="1" spc="-10" dirty="0">
                <a:latin typeface="Arial"/>
                <a:cs typeface="Arial"/>
              </a:rPr>
              <a:t> </a:t>
            </a:r>
            <a:r>
              <a:rPr sz="3000" b="1" dirty="0">
                <a:latin typeface="Arial"/>
                <a:cs typeface="Arial"/>
              </a:rPr>
              <a:t>Arjun</a:t>
            </a:r>
            <a:r>
              <a:rPr sz="3000" b="1" spc="15" dirty="0">
                <a:latin typeface="Arial"/>
                <a:cs typeface="Arial"/>
              </a:rPr>
              <a:t> </a:t>
            </a:r>
            <a:r>
              <a:rPr sz="3000" b="1" spc="-10" dirty="0">
                <a:latin typeface="Arial"/>
                <a:cs typeface="Arial"/>
              </a:rPr>
              <a:t>Singh </a:t>
            </a:r>
            <a:r>
              <a:rPr sz="3000" b="1" dirty="0">
                <a:latin typeface="Arial"/>
                <a:cs typeface="Arial"/>
              </a:rPr>
              <a:t>Institution</a:t>
            </a:r>
            <a:r>
              <a:rPr sz="3000" b="1" spc="-70" dirty="0">
                <a:latin typeface="Arial"/>
                <a:cs typeface="Arial"/>
              </a:rPr>
              <a:t> </a:t>
            </a:r>
            <a:r>
              <a:rPr sz="3000" b="1" dirty="0">
                <a:latin typeface="Arial"/>
                <a:cs typeface="Arial"/>
              </a:rPr>
              <a:t>Name:</a:t>
            </a:r>
            <a:r>
              <a:rPr sz="3000" b="1" spc="-165" dirty="0">
                <a:latin typeface="Arial"/>
                <a:cs typeface="Arial"/>
              </a:rPr>
              <a:t> </a:t>
            </a:r>
            <a:r>
              <a:rPr sz="3000" b="1" dirty="0">
                <a:latin typeface="Arial"/>
                <a:cs typeface="Arial"/>
              </a:rPr>
              <a:t>Vidyalankar</a:t>
            </a:r>
            <a:r>
              <a:rPr sz="3000" b="1" spc="-145" dirty="0">
                <a:latin typeface="Arial"/>
                <a:cs typeface="Arial"/>
              </a:rPr>
              <a:t> </a:t>
            </a:r>
            <a:r>
              <a:rPr sz="3000" b="1" spc="-10" dirty="0">
                <a:latin typeface="Arial"/>
                <a:cs typeface="Arial"/>
              </a:rPr>
              <a:t>Polytechnic </a:t>
            </a:r>
            <a:r>
              <a:rPr sz="3000" b="1" dirty="0">
                <a:latin typeface="Arial"/>
                <a:cs typeface="Arial"/>
              </a:rPr>
              <a:t>Segment:</a:t>
            </a:r>
            <a:r>
              <a:rPr sz="3000" b="1" spc="60" dirty="0">
                <a:latin typeface="Arial"/>
                <a:cs typeface="Arial"/>
              </a:rPr>
              <a:t> </a:t>
            </a:r>
            <a:r>
              <a:rPr sz="3000" b="1" dirty="0">
                <a:latin typeface="Arial"/>
                <a:cs typeface="Arial"/>
              </a:rPr>
              <a:t>Open</a:t>
            </a:r>
            <a:r>
              <a:rPr sz="3000" b="1" spc="70" dirty="0">
                <a:latin typeface="Arial"/>
                <a:cs typeface="Arial"/>
              </a:rPr>
              <a:t> </a:t>
            </a:r>
            <a:r>
              <a:rPr sz="3000" b="1" spc="-10" dirty="0">
                <a:latin typeface="Arial"/>
                <a:cs typeface="Arial"/>
              </a:rPr>
              <a:t>Innovation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89279" y="6951980"/>
            <a:ext cx="28022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0" dirty="0">
                <a:latin typeface="Calibri"/>
                <a:cs typeface="Calibri"/>
              </a:rPr>
              <a:t>Institute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Mentor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9314" y="6987920"/>
            <a:ext cx="18783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70" dirty="0">
                <a:latin typeface="Calibri"/>
                <a:cs typeface="Calibri"/>
              </a:rPr>
              <a:t>Team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Leader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65270" y="6987920"/>
            <a:ext cx="2406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70" dirty="0">
                <a:latin typeface="Calibri"/>
                <a:cs typeface="Calibri"/>
              </a:rPr>
              <a:t>Team</a:t>
            </a:r>
            <a:r>
              <a:rPr sz="2800" b="1" spc="-13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Member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97597" y="6987920"/>
            <a:ext cx="2406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70" dirty="0">
                <a:latin typeface="Calibri"/>
                <a:cs typeface="Calibri"/>
              </a:rPr>
              <a:t>Team</a:t>
            </a:r>
            <a:r>
              <a:rPr sz="2800" b="1" spc="-14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Member</a:t>
            </a:r>
            <a:r>
              <a:rPr sz="2800" b="1" spc="-130" dirty="0">
                <a:latin typeface="Calibri"/>
                <a:cs typeface="Calibri"/>
              </a:rPr>
              <a:t> </a:t>
            </a:r>
            <a:r>
              <a:rPr sz="2800" b="1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28223" y="6987920"/>
            <a:ext cx="2406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70" dirty="0">
                <a:latin typeface="Calibri"/>
                <a:cs typeface="Calibri"/>
              </a:rPr>
              <a:t>Team</a:t>
            </a:r>
            <a:r>
              <a:rPr sz="2800" b="1" spc="-13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Member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-12699" y="8987917"/>
            <a:ext cx="18313400" cy="1311910"/>
            <a:chOff x="-12699" y="8987917"/>
            <a:chExt cx="18313400" cy="1311910"/>
          </a:xfrm>
        </p:grpSpPr>
        <p:sp>
          <p:nvSpPr>
            <p:cNvPr id="8" name="object 8"/>
            <p:cNvSpPr/>
            <p:nvPr/>
          </p:nvSpPr>
          <p:spPr>
            <a:xfrm>
              <a:off x="0" y="9000616"/>
              <a:ext cx="18288000" cy="1286510"/>
            </a:xfrm>
            <a:custGeom>
              <a:avLst/>
              <a:gdLst/>
              <a:ahLst/>
              <a:cxnLst/>
              <a:rect l="l" t="t" r="r" b="b"/>
              <a:pathLst>
                <a:path w="18288000" h="1286509">
                  <a:moveTo>
                    <a:pt x="18021427" y="0"/>
                  </a:moveTo>
                  <a:lnTo>
                    <a:pt x="266560" y="0"/>
                  </a:lnTo>
                  <a:lnTo>
                    <a:pt x="218643" y="4190"/>
                  </a:lnTo>
                  <a:lnTo>
                    <a:pt x="173545" y="16624"/>
                  </a:lnTo>
                  <a:lnTo>
                    <a:pt x="132016" y="36347"/>
                  </a:lnTo>
                  <a:lnTo>
                    <a:pt x="94815" y="62649"/>
                  </a:lnTo>
                  <a:lnTo>
                    <a:pt x="62689" y="94767"/>
                  </a:lnTo>
                  <a:lnTo>
                    <a:pt x="36391" y="131978"/>
                  </a:lnTo>
                  <a:lnTo>
                    <a:pt x="16676" y="173494"/>
                  </a:lnTo>
                  <a:lnTo>
                    <a:pt x="4293" y="218592"/>
                  </a:lnTo>
                  <a:lnTo>
                    <a:pt x="0" y="266509"/>
                  </a:lnTo>
                  <a:lnTo>
                    <a:pt x="0" y="1286382"/>
                  </a:lnTo>
                  <a:lnTo>
                    <a:pt x="18288000" y="1286382"/>
                  </a:lnTo>
                  <a:lnTo>
                    <a:pt x="18288000" y="266509"/>
                  </a:lnTo>
                  <a:lnTo>
                    <a:pt x="18282793" y="214261"/>
                  </a:lnTo>
                  <a:lnTo>
                    <a:pt x="18267680" y="164503"/>
                  </a:lnTo>
                  <a:lnTo>
                    <a:pt x="18243169" y="118630"/>
                  </a:lnTo>
                  <a:lnTo>
                    <a:pt x="18209895" y="78028"/>
                  </a:lnTo>
                  <a:lnTo>
                    <a:pt x="18169382" y="44742"/>
                  </a:lnTo>
                  <a:lnTo>
                    <a:pt x="18123408" y="20243"/>
                  </a:lnTo>
                  <a:lnTo>
                    <a:pt x="18073751" y="5079"/>
                  </a:lnTo>
                  <a:lnTo>
                    <a:pt x="18021427" y="0"/>
                  </a:lnTo>
                  <a:close/>
                </a:path>
              </a:pathLst>
            </a:custGeom>
            <a:solidFill>
              <a:srgbClr val="77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9000616"/>
              <a:ext cx="18288000" cy="1286510"/>
            </a:xfrm>
            <a:custGeom>
              <a:avLst/>
              <a:gdLst/>
              <a:ahLst/>
              <a:cxnLst/>
              <a:rect l="l" t="t" r="r" b="b"/>
              <a:pathLst>
                <a:path w="18288000" h="1286509">
                  <a:moveTo>
                    <a:pt x="0" y="266509"/>
                  </a:moveTo>
                  <a:lnTo>
                    <a:pt x="4293" y="218592"/>
                  </a:lnTo>
                  <a:lnTo>
                    <a:pt x="16676" y="173494"/>
                  </a:lnTo>
                  <a:lnTo>
                    <a:pt x="36391" y="131978"/>
                  </a:lnTo>
                  <a:lnTo>
                    <a:pt x="62689" y="94767"/>
                  </a:lnTo>
                  <a:lnTo>
                    <a:pt x="94815" y="62649"/>
                  </a:lnTo>
                  <a:lnTo>
                    <a:pt x="132016" y="36347"/>
                  </a:lnTo>
                  <a:lnTo>
                    <a:pt x="173545" y="16624"/>
                  </a:lnTo>
                  <a:lnTo>
                    <a:pt x="218643" y="4190"/>
                  </a:lnTo>
                  <a:lnTo>
                    <a:pt x="266560" y="0"/>
                  </a:lnTo>
                  <a:lnTo>
                    <a:pt x="18021427" y="0"/>
                  </a:lnTo>
                  <a:lnTo>
                    <a:pt x="18073751" y="5079"/>
                  </a:lnTo>
                  <a:lnTo>
                    <a:pt x="18123408" y="20243"/>
                  </a:lnTo>
                  <a:lnTo>
                    <a:pt x="18169382" y="44742"/>
                  </a:lnTo>
                  <a:lnTo>
                    <a:pt x="18209895" y="78028"/>
                  </a:lnTo>
                  <a:lnTo>
                    <a:pt x="18243169" y="118630"/>
                  </a:lnTo>
                  <a:lnTo>
                    <a:pt x="18267680" y="164503"/>
                  </a:lnTo>
                  <a:lnTo>
                    <a:pt x="18282793" y="214261"/>
                  </a:lnTo>
                  <a:lnTo>
                    <a:pt x="18288000" y="266509"/>
                  </a:lnTo>
                  <a:lnTo>
                    <a:pt x="18288000" y="1286382"/>
                  </a:lnTo>
                </a:path>
                <a:path w="18288000" h="1286509">
                  <a:moveTo>
                    <a:pt x="0" y="1286382"/>
                  </a:moveTo>
                  <a:lnTo>
                    <a:pt x="0" y="266509"/>
                  </a:lnTo>
                </a:path>
              </a:pathLst>
            </a:custGeom>
            <a:ln w="25398">
              <a:solidFill>
                <a:srgbClr val="77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9817" y="9066709"/>
              <a:ext cx="2645791" cy="1106486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40029" y="408012"/>
            <a:ext cx="3159632" cy="59135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92836" y="1275461"/>
            <a:ext cx="4284599" cy="1942083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7047611" y="3381502"/>
            <a:ext cx="2705100" cy="3524250"/>
            <a:chOff x="7047611" y="3381502"/>
            <a:chExt cx="2705100" cy="3524250"/>
          </a:xfrm>
        </p:grpSpPr>
        <p:sp>
          <p:nvSpPr>
            <p:cNvPr id="14" name="object 14"/>
            <p:cNvSpPr/>
            <p:nvPr/>
          </p:nvSpPr>
          <p:spPr>
            <a:xfrm>
              <a:off x="7076186" y="3410076"/>
              <a:ext cx="2647950" cy="3467100"/>
            </a:xfrm>
            <a:custGeom>
              <a:avLst/>
              <a:gdLst/>
              <a:ahLst/>
              <a:cxnLst/>
              <a:rect l="l" t="t" r="r" b="b"/>
              <a:pathLst>
                <a:path w="2647950" h="3467100">
                  <a:moveTo>
                    <a:pt x="0" y="3466846"/>
                  </a:moveTo>
                  <a:lnTo>
                    <a:pt x="2647950" y="3466846"/>
                  </a:lnTo>
                  <a:lnTo>
                    <a:pt x="2647950" y="0"/>
                  </a:lnTo>
                  <a:lnTo>
                    <a:pt x="0" y="0"/>
                  </a:lnTo>
                  <a:lnTo>
                    <a:pt x="0" y="3466846"/>
                  </a:lnTo>
                  <a:close/>
                </a:path>
              </a:pathLst>
            </a:custGeom>
            <a:ln w="57148">
              <a:solidFill>
                <a:srgbClr val="77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76186" y="3453256"/>
              <a:ext cx="2647950" cy="3423792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0" y="620115"/>
            <a:ext cx="6466840" cy="952500"/>
            <a:chOff x="0" y="620115"/>
            <a:chExt cx="6466840" cy="952500"/>
          </a:xfrm>
        </p:grpSpPr>
        <p:sp>
          <p:nvSpPr>
            <p:cNvPr id="17" name="object 17"/>
            <p:cNvSpPr/>
            <p:nvPr/>
          </p:nvSpPr>
          <p:spPr>
            <a:xfrm>
              <a:off x="0" y="1505607"/>
              <a:ext cx="6466840" cy="67310"/>
            </a:xfrm>
            <a:custGeom>
              <a:avLst/>
              <a:gdLst/>
              <a:ahLst/>
              <a:cxnLst/>
              <a:rect l="l" t="t" r="r" b="b"/>
              <a:pathLst>
                <a:path w="6466840" h="67309">
                  <a:moveTo>
                    <a:pt x="6466586" y="0"/>
                  </a:moveTo>
                  <a:lnTo>
                    <a:pt x="0" y="0"/>
                  </a:lnTo>
                  <a:lnTo>
                    <a:pt x="0" y="66906"/>
                  </a:lnTo>
                  <a:lnTo>
                    <a:pt x="6466586" y="66906"/>
                  </a:lnTo>
                  <a:lnTo>
                    <a:pt x="6466586" y="0"/>
                  </a:lnTo>
                  <a:close/>
                </a:path>
              </a:pathLst>
            </a:custGeom>
            <a:solidFill>
              <a:srgbClr val="362F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620115"/>
              <a:ext cx="6466840" cy="885825"/>
            </a:xfrm>
            <a:custGeom>
              <a:avLst/>
              <a:gdLst/>
              <a:ahLst/>
              <a:cxnLst/>
              <a:rect l="l" t="t" r="r" b="b"/>
              <a:pathLst>
                <a:path w="6466840" h="885825">
                  <a:moveTo>
                    <a:pt x="6466586" y="0"/>
                  </a:moveTo>
                  <a:lnTo>
                    <a:pt x="0" y="0"/>
                  </a:lnTo>
                  <a:lnTo>
                    <a:pt x="0" y="885596"/>
                  </a:lnTo>
                  <a:lnTo>
                    <a:pt x="6466586" y="885596"/>
                  </a:lnTo>
                  <a:lnTo>
                    <a:pt x="6466586" y="0"/>
                  </a:lnTo>
                  <a:close/>
                </a:path>
              </a:pathLst>
            </a:custGeom>
            <a:solidFill>
              <a:srgbClr val="77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Meet</a:t>
            </a:r>
            <a:r>
              <a:rPr spc="-450" dirty="0"/>
              <a:t> </a:t>
            </a:r>
            <a:r>
              <a:rPr spc="-75" dirty="0"/>
              <a:t>the</a:t>
            </a:r>
            <a:r>
              <a:rPr spc="-415" dirty="0"/>
              <a:t> </a:t>
            </a:r>
            <a:r>
              <a:rPr spc="-20" dirty="0"/>
              <a:t>Team</a:t>
            </a: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15410" y="3381502"/>
            <a:ext cx="2705098" cy="352399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1906" y="3381502"/>
            <a:ext cx="2705098" cy="352399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830554" y="3381375"/>
            <a:ext cx="2769234" cy="352399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282936" y="3381502"/>
            <a:ext cx="2705098" cy="3595369"/>
          </a:xfrm>
          <a:prstGeom prst="rect">
            <a:avLst/>
          </a:prstGeom>
        </p:spPr>
      </p:pic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0"/>
              </a:lnSpc>
            </a:pPr>
            <a:r>
              <a:rPr spc="-25" dirty="0"/>
              <a:t>Organized</a:t>
            </a:r>
            <a:r>
              <a:rPr spc="-110" dirty="0"/>
              <a:t> </a:t>
            </a:r>
            <a:r>
              <a:rPr spc="-25" dirty="0"/>
              <a:t>by: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0115"/>
            <a:ext cx="6466840" cy="952500"/>
            <a:chOff x="0" y="620115"/>
            <a:chExt cx="6466840" cy="952500"/>
          </a:xfrm>
        </p:grpSpPr>
        <p:sp>
          <p:nvSpPr>
            <p:cNvPr id="3" name="object 3"/>
            <p:cNvSpPr/>
            <p:nvPr/>
          </p:nvSpPr>
          <p:spPr>
            <a:xfrm>
              <a:off x="0" y="1505607"/>
              <a:ext cx="6466840" cy="67310"/>
            </a:xfrm>
            <a:custGeom>
              <a:avLst/>
              <a:gdLst/>
              <a:ahLst/>
              <a:cxnLst/>
              <a:rect l="l" t="t" r="r" b="b"/>
              <a:pathLst>
                <a:path w="6466840" h="67309">
                  <a:moveTo>
                    <a:pt x="6466586" y="0"/>
                  </a:moveTo>
                  <a:lnTo>
                    <a:pt x="0" y="0"/>
                  </a:lnTo>
                  <a:lnTo>
                    <a:pt x="0" y="66906"/>
                  </a:lnTo>
                  <a:lnTo>
                    <a:pt x="6466586" y="66906"/>
                  </a:lnTo>
                  <a:lnTo>
                    <a:pt x="6466586" y="0"/>
                  </a:lnTo>
                  <a:close/>
                </a:path>
              </a:pathLst>
            </a:custGeom>
            <a:solidFill>
              <a:srgbClr val="362F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20115"/>
              <a:ext cx="6466840" cy="885825"/>
            </a:xfrm>
            <a:custGeom>
              <a:avLst/>
              <a:gdLst/>
              <a:ahLst/>
              <a:cxnLst/>
              <a:rect l="l" t="t" r="r" b="b"/>
              <a:pathLst>
                <a:path w="6466840" h="885825">
                  <a:moveTo>
                    <a:pt x="6466586" y="0"/>
                  </a:moveTo>
                  <a:lnTo>
                    <a:pt x="0" y="0"/>
                  </a:lnTo>
                  <a:lnTo>
                    <a:pt x="0" y="885596"/>
                  </a:lnTo>
                  <a:lnTo>
                    <a:pt x="6466586" y="885596"/>
                  </a:lnTo>
                  <a:lnTo>
                    <a:pt x="6466586" y="0"/>
                  </a:lnTo>
                  <a:close/>
                </a:path>
              </a:pathLst>
            </a:custGeom>
            <a:solidFill>
              <a:srgbClr val="77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 algn="ctr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IDEA</a:t>
            </a:r>
            <a:r>
              <a:rPr spc="-635" dirty="0"/>
              <a:t> </a:t>
            </a:r>
            <a:r>
              <a:rPr dirty="0"/>
              <a:t>/</a:t>
            </a:r>
            <a:r>
              <a:rPr spc="229" dirty="0"/>
              <a:t> </a:t>
            </a:r>
            <a:r>
              <a:rPr spc="-240" dirty="0"/>
              <a:t>APPROACH</a:t>
            </a:r>
            <a:r>
              <a:rPr spc="-540" dirty="0"/>
              <a:t> </a:t>
            </a:r>
            <a:r>
              <a:rPr spc="-330" dirty="0"/>
              <a:t>DETAILS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0"/>
              </a:lnSpc>
            </a:pPr>
            <a:r>
              <a:rPr spc="-25" dirty="0"/>
              <a:t>Organized</a:t>
            </a:r>
            <a:r>
              <a:rPr spc="-110" dirty="0"/>
              <a:t> </a:t>
            </a:r>
            <a:r>
              <a:rPr spc="-25" dirty="0"/>
              <a:t>by: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37617" rIns="0" bIns="0" rtlCol="0">
            <a:spAutoFit/>
          </a:bodyPr>
          <a:lstStyle/>
          <a:p>
            <a:pPr marL="241300" marR="18288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Times New Roman"/>
                <a:cs typeface="Times New Roman"/>
              </a:rPr>
              <a:t>Students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struggle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find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relevant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engaging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project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ideas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for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their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final year.</a:t>
            </a:r>
          </a:p>
          <a:p>
            <a:pPr marL="241300" marR="5080">
              <a:lnSpc>
                <a:spcPct val="100000"/>
              </a:lnSpc>
            </a:pPr>
            <a:r>
              <a:rPr dirty="0">
                <a:latin typeface="Times New Roman"/>
                <a:cs typeface="Times New Roman"/>
              </a:rPr>
              <a:t>Startups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face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challenges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finding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talented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students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help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solve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their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real- </a:t>
            </a:r>
            <a:r>
              <a:rPr dirty="0">
                <a:latin typeface="Times New Roman"/>
                <a:cs typeface="Times New Roman"/>
              </a:rPr>
              <a:t>world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problems.</a:t>
            </a:r>
          </a:p>
          <a:p>
            <a:pPr marL="241300">
              <a:lnSpc>
                <a:spcPct val="100000"/>
              </a:lnSpc>
            </a:pPr>
            <a:r>
              <a:rPr dirty="0">
                <a:latin typeface="Times New Roman"/>
                <a:cs typeface="Times New Roman"/>
              </a:rPr>
              <a:t>Innovative</a:t>
            </a:r>
            <a:r>
              <a:rPr spc="-7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Solutions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we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can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provide:</a:t>
            </a:r>
          </a:p>
          <a:p>
            <a:pPr marL="241300" marR="332740">
              <a:lnSpc>
                <a:spcPct val="100000"/>
              </a:lnSpc>
            </a:pPr>
            <a:r>
              <a:rPr dirty="0">
                <a:latin typeface="Times New Roman"/>
                <a:cs typeface="Times New Roman"/>
              </a:rPr>
              <a:t>-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web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application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where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startups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can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post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their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problem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statements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spc="-50" dirty="0">
                <a:latin typeface="Times New Roman"/>
                <a:cs typeface="Times New Roman"/>
              </a:rPr>
              <a:t>a </a:t>
            </a:r>
            <a:r>
              <a:rPr dirty="0">
                <a:latin typeface="Times New Roman"/>
                <a:cs typeface="Times New Roman"/>
              </a:rPr>
              <a:t>standardized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format.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Students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can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browse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understand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these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problem </a:t>
            </a:r>
            <a:r>
              <a:rPr dirty="0">
                <a:latin typeface="Times New Roman"/>
                <a:cs typeface="Times New Roman"/>
              </a:rPr>
              <a:t>statements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propose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solutions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by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sending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"pull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request"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the </a:t>
            </a:r>
            <a:r>
              <a:rPr spc="-10" dirty="0">
                <a:latin typeface="Times New Roman"/>
                <a:cs typeface="Times New Roman"/>
              </a:rPr>
              <a:t>company.</a:t>
            </a:r>
          </a:p>
          <a:p>
            <a:pPr marL="241300" marR="360045">
              <a:lnSpc>
                <a:spcPct val="100000"/>
              </a:lnSpc>
              <a:spcBef>
                <a:spcPts val="5"/>
              </a:spcBef>
            </a:pPr>
            <a:r>
              <a:rPr dirty="0">
                <a:latin typeface="Times New Roman"/>
                <a:cs typeface="Times New Roman"/>
              </a:rPr>
              <a:t>The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collaboration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is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based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on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letter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recommendation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or </a:t>
            </a:r>
            <a:r>
              <a:rPr dirty="0">
                <a:latin typeface="Times New Roman"/>
                <a:cs typeface="Times New Roman"/>
              </a:rPr>
              <a:t>acknowledgment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from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company,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rather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than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monetary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compensation.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0115"/>
            <a:ext cx="6466840" cy="952500"/>
            <a:chOff x="0" y="620115"/>
            <a:chExt cx="6466840" cy="952500"/>
          </a:xfrm>
        </p:grpSpPr>
        <p:sp>
          <p:nvSpPr>
            <p:cNvPr id="3" name="object 3"/>
            <p:cNvSpPr/>
            <p:nvPr/>
          </p:nvSpPr>
          <p:spPr>
            <a:xfrm>
              <a:off x="0" y="1505607"/>
              <a:ext cx="6466840" cy="67310"/>
            </a:xfrm>
            <a:custGeom>
              <a:avLst/>
              <a:gdLst/>
              <a:ahLst/>
              <a:cxnLst/>
              <a:rect l="l" t="t" r="r" b="b"/>
              <a:pathLst>
                <a:path w="6466840" h="67309">
                  <a:moveTo>
                    <a:pt x="6466586" y="0"/>
                  </a:moveTo>
                  <a:lnTo>
                    <a:pt x="0" y="0"/>
                  </a:lnTo>
                  <a:lnTo>
                    <a:pt x="0" y="66906"/>
                  </a:lnTo>
                  <a:lnTo>
                    <a:pt x="6466586" y="66906"/>
                  </a:lnTo>
                  <a:lnTo>
                    <a:pt x="6466586" y="0"/>
                  </a:lnTo>
                  <a:close/>
                </a:path>
              </a:pathLst>
            </a:custGeom>
            <a:solidFill>
              <a:srgbClr val="362F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20115"/>
              <a:ext cx="6466840" cy="885825"/>
            </a:xfrm>
            <a:custGeom>
              <a:avLst/>
              <a:gdLst/>
              <a:ahLst/>
              <a:cxnLst/>
              <a:rect l="l" t="t" r="r" b="b"/>
              <a:pathLst>
                <a:path w="6466840" h="885825">
                  <a:moveTo>
                    <a:pt x="6466586" y="0"/>
                  </a:moveTo>
                  <a:lnTo>
                    <a:pt x="0" y="0"/>
                  </a:lnTo>
                  <a:lnTo>
                    <a:pt x="0" y="885596"/>
                  </a:lnTo>
                  <a:lnTo>
                    <a:pt x="6466586" y="885596"/>
                  </a:lnTo>
                  <a:lnTo>
                    <a:pt x="6466586" y="0"/>
                  </a:lnTo>
                  <a:close/>
                </a:path>
              </a:pathLst>
            </a:custGeom>
            <a:solidFill>
              <a:srgbClr val="77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95" algn="ctr">
              <a:lnSpc>
                <a:spcPct val="100000"/>
              </a:lnSpc>
              <a:spcBef>
                <a:spcPts val="100"/>
              </a:spcBef>
            </a:pPr>
            <a:r>
              <a:rPr spc="-300" dirty="0"/>
              <a:t>TECHNOLOGY</a:t>
            </a:r>
            <a:r>
              <a:rPr spc="-610" dirty="0"/>
              <a:t> </a:t>
            </a:r>
            <a:r>
              <a:rPr spc="-10" dirty="0"/>
              <a:t>STACK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0"/>
              </a:lnSpc>
            </a:pPr>
            <a:r>
              <a:rPr spc="-25" dirty="0"/>
              <a:t>Organized</a:t>
            </a:r>
            <a:r>
              <a:rPr spc="-110" dirty="0"/>
              <a:t> </a:t>
            </a:r>
            <a:r>
              <a:rPr spc="-25" dirty="0"/>
              <a:t>by: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2140" y="2043429"/>
            <a:ext cx="12713335" cy="4321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"/>
                <a:cs typeface="Arial"/>
              </a:rPr>
              <a:t>Technologies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used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: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latin typeface="Arial"/>
                <a:cs typeface="Arial"/>
              </a:rPr>
              <a:t>Frontend-</a:t>
            </a:r>
            <a:endParaRPr sz="2800" dirty="0">
              <a:latin typeface="Arial"/>
              <a:cs typeface="Arial"/>
            </a:endParaRPr>
          </a:p>
          <a:p>
            <a:pPr marL="12700" marR="723900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Arial"/>
                <a:cs typeface="Arial"/>
              </a:rPr>
              <a:t>Web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: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lang="en-IN" sz="2800" spc="-60" dirty="0" err="1">
                <a:latin typeface="Arial"/>
                <a:cs typeface="Arial"/>
              </a:rPr>
              <a:t>Nextjs</a:t>
            </a:r>
            <a:r>
              <a:rPr lang="en-IN" sz="2800" spc="-60" dirty="0">
                <a:latin typeface="Arial"/>
                <a:cs typeface="Arial"/>
              </a:rPr>
              <a:t> and certain libraries </a:t>
            </a:r>
            <a:r>
              <a:rPr sz="2800" dirty="0">
                <a:latin typeface="Arial"/>
                <a:cs typeface="Arial"/>
              </a:rPr>
              <a:t>for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lang="en-IN"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building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UI.</a:t>
            </a:r>
            <a:r>
              <a:rPr lang="en-IN" sz="2800" spc="-2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 </a:t>
            </a:r>
            <a:br>
              <a:rPr lang="en-IN" sz="2800" spc="-25" dirty="0">
                <a:latin typeface="Arial"/>
                <a:cs typeface="Arial"/>
              </a:rPr>
            </a:br>
            <a:r>
              <a:rPr sz="2800" spc="-10" dirty="0">
                <a:latin typeface="Arial"/>
                <a:cs typeface="Arial"/>
              </a:rPr>
              <a:t>Backend-</a:t>
            </a:r>
            <a:endParaRPr sz="28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Node.js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with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Express.js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for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handling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form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submissions,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managing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review process.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latin typeface="Arial"/>
                <a:cs typeface="Arial"/>
              </a:rPr>
              <a:t>Database-</a:t>
            </a:r>
            <a:endParaRPr sz="2800" dirty="0">
              <a:latin typeface="Arial"/>
              <a:cs typeface="Arial"/>
            </a:endParaRPr>
          </a:p>
          <a:p>
            <a:pPr marL="12700" marR="607060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MongoDB: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store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all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data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related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proposals,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user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profiles,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and </a:t>
            </a:r>
            <a:r>
              <a:rPr sz="2800" dirty="0">
                <a:latin typeface="Arial"/>
                <a:cs typeface="Arial"/>
              </a:rPr>
              <a:t>agreement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documents.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0115"/>
            <a:ext cx="6466840" cy="952500"/>
            <a:chOff x="0" y="620115"/>
            <a:chExt cx="6466840" cy="952500"/>
          </a:xfrm>
        </p:grpSpPr>
        <p:sp>
          <p:nvSpPr>
            <p:cNvPr id="3" name="object 3"/>
            <p:cNvSpPr/>
            <p:nvPr/>
          </p:nvSpPr>
          <p:spPr>
            <a:xfrm>
              <a:off x="0" y="1505607"/>
              <a:ext cx="6466840" cy="67310"/>
            </a:xfrm>
            <a:custGeom>
              <a:avLst/>
              <a:gdLst/>
              <a:ahLst/>
              <a:cxnLst/>
              <a:rect l="l" t="t" r="r" b="b"/>
              <a:pathLst>
                <a:path w="6466840" h="67309">
                  <a:moveTo>
                    <a:pt x="6466586" y="0"/>
                  </a:moveTo>
                  <a:lnTo>
                    <a:pt x="0" y="0"/>
                  </a:lnTo>
                  <a:lnTo>
                    <a:pt x="0" y="66906"/>
                  </a:lnTo>
                  <a:lnTo>
                    <a:pt x="6466586" y="66906"/>
                  </a:lnTo>
                  <a:lnTo>
                    <a:pt x="6466586" y="0"/>
                  </a:lnTo>
                  <a:close/>
                </a:path>
              </a:pathLst>
            </a:custGeom>
            <a:solidFill>
              <a:srgbClr val="362F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20115"/>
              <a:ext cx="6466840" cy="885825"/>
            </a:xfrm>
            <a:custGeom>
              <a:avLst/>
              <a:gdLst/>
              <a:ahLst/>
              <a:cxnLst/>
              <a:rect l="l" t="t" r="r" b="b"/>
              <a:pathLst>
                <a:path w="6466840" h="885825">
                  <a:moveTo>
                    <a:pt x="6466586" y="0"/>
                  </a:moveTo>
                  <a:lnTo>
                    <a:pt x="0" y="0"/>
                  </a:lnTo>
                  <a:lnTo>
                    <a:pt x="0" y="885596"/>
                  </a:lnTo>
                  <a:lnTo>
                    <a:pt x="6466586" y="885596"/>
                  </a:lnTo>
                  <a:lnTo>
                    <a:pt x="6466586" y="0"/>
                  </a:lnTo>
                  <a:close/>
                </a:path>
              </a:pathLst>
            </a:custGeom>
            <a:solidFill>
              <a:srgbClr val="77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" algn="ctr">
              <a:lnSpc>
                <a:spcPct val="100000"/>
              </a:lnSpc>
              <a:spcBef>
                <a:spcPts val="100"/>
              </a:spcBef>
            </a:pPr>
            <a:r>
              <a:rPr spc="-240" dirty="0"/>
              <a:t>USPs</a:t>
            </a:r>
            <a:r>
              <a:rPr spc="-690" dirty="0"/>
              <a:t> </a:t>
            </a:r>
            <a:r>
              <a:rPr spc="-140" dirty="0"/>
              <a:t>OF</a:t>
            </a:r>
            <a:r>
              <a:rPr spc="-615" dirty="0"/>
              <a:t> </a:t>
            </a:r>
            <a:r>
              <a:rPr spc="-265" dirty="0"/>
              <a:t>YOUR</a:t>
            </a:r>
            <a:r>
              <a:rPr spc="-655" dirty="0"/>
              <a:t> </a:t>
            </a:r>
            <a:r>
              <a:rPr spc="-20" dirty="0"/>
              <a:t>IDEA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0"/>
              </a:lnSpc>
            </a:pPr>
            <a:r>
              <a:rPr spc="-25" dirty="0"/>
              <a:t>Organized</a:t>
            </a:r>
            <a:r>
              <a:rPr spc="-110" dirty="0"/>
              <a:t> </a:t>
            </a:r>
            <a:r>
              <a:rPr spc="-25" dirty="0"/>
              <a:t>by: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25120">
              <a:lnSpc>
                <a:spcPct val="100000"/>
              </a:lnSpc>
              <a:spcBef>
                <a:spcPts val="95"/>
              </a:spcBef>
            </a:pPr>
            <a:r>
              <a:rPr dirty="0"/>
              <a:t>Bridging</a:t>
            </a:r>
            <a:r>
              <a:rPr spc="-8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Gap</a:t>
            </a:r>
            <a:r>
              <a:rPr spc="-85" dirty="0"/>
              <a:t> </a:t>
            </a:r>
            <a:r>
              <a:rPr dirty="0"/>
              <a:t>Between</a:t>
            </a:r>
            <a:r>
              <a:rPr spc="-75" dirty="0"/>
              <a:t> </a:t>
            </a:r>
            <a:r>
              <a:rPr dirty="0"/>
              <a:t>Startups</a:t>
            </a:r>
            <a:r>
              <a:rPr spc="-9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Students:</a:t>
            </a:r>
            <a:r>
              <a:rPr spc="-95" dirty="0"/>
              <a:t> </a:t>
            </a:r>
            <a:r>
              <a:rPr dirty="0"/>
              <a:t>Startups</a:t>
            </a:r>
            <a:r>
              <a:rPr spc="-85" dirty="0"/>
              <a:t> </a:t>
            </a:r>
            <a:r>
              <a:rPr spc="-20" dirty="0"/>
              <a:t>face </a:t>
            </a:r>
            <a:r>
              <a:rPr dirty="0"/>
              <a:t>difficulties</a:t>
            </a:r>
            <a:r>
              <a:rPr spc="-85" dirty="0"/>
              <a:t> </a:t>
            </a:r>
            <a:r>
              <a:rPr dirty="0"/>
              <a:t>finding</a:t>
            </a:r>
            <a:r>
              <a:rPr spc="-85" dirty="0"/>
              <a:t> </a:t>
            </a:r>
            <a:r>
              <a:rPr dirty="0"/>
              <a:t>fresh</a:t>
            </a:r>
            <a:r>
              <a:rPr spc="-80" dirty="0"/>
              <a:t> </a:t>
            </a:r>
            <a:r>
              <a:rPr dirty="0"/>
              <a:t>talent,</a:t>
            </a:r>
            <a:r>
              <a:rPr spc="-8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students</a:t>
            </a:r>
            <a:r>
              <a:rPr spc="-80" dirty="0"/>
              <a:t> </a:t>
            </a:r>
            <a:r>
              <a:rPr dirty="0"/>
              <a:t>struggle</a:t>
            </a:r>
            <a:r>
              <a:rPr spc="-80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spc="-25" dirty="0"/>
              <a:t>get </a:t>
            </a:r>
            <a:r>
              <a:rPr dirty="0"/>
              <a:t>meaningful,</a:t>
            </a:r>
            <a:r>
              <a:rPr spc="-80" dirty="0"/>
              <a:t> </a:t>
            </a:r>
            <a:r>
              <a:rPr spc="-10" dirty="0"/>
              <a:t>real-</a:t>
            </a:r>
            <a:r>
              <a:rPr dirty="0"/>
              <a:t>world</a:t>
            </a:r>
            <a:r>
              <a:rPr spc="-65" dirty="0"/>
              <a:t> </a:t>
            </a:r>
            <a:r>
              <a:rPr dirty="0"/>
              <a:t>projects.</a:t>
            </a:r>
            <a:r>
              <a:rPr spc="-90" dirty="0"/>
              <a:t> </a:t>
            </a:r>
            <a:r>
              <a:rPr dirty="0"/>
              <a:t>Our</a:t>
            </a:r>
            <a:r>
              <a:rPr spc="-85" dirty="0"/>
              <a:t> </a:t>
            </a:r>
            <a:r>
              <a:rPr dirty="0"/>
              <a:t>platform</a:t>
            </a:r>
            <a:r>
              <a:rPr spc="-90" dirty="0"/>
              <a:t> </a:t>
            </a:r>
            <a:r>
              <a:rPr dirty="0"/>
              <a:t>directly</a:t>
            </a:r>
            <a:r>
              <a:rPr spc="-90" dirty="0"/>
              <a:t> </a:t>
            </a:r>
            <a:r>
              <a:rPr dirty="0"/>
              <a:t>connects</a:t>
            </a:r>
            <a:r>
              <a:rPr spc="-100" dirty="0"/>
              <a:t> </a:t>
            </a:r>
            <a:r>
              <a:rPr spc="-10" dirty="0"/>
              <a:t>these </a:t>
            </a:r>
            <a:r>
              <a:rPr dirty="0"/>
              <a:t>two</a:t>
            </a:r>
            <a:r>
              <a:rPr spc="-75" dirty="0"/>
              <a:t> </a:t>
            </a:r>
            <a:r>
              <a:rPr dirty="0"/>
              <a:t>groups,</a:t>
            </a:r>
            <a:r>
              <a:rPr spc="-60" dirty="0"/>
              <a:t> </a:t>
            </a:r>
            <a:r>
              <a:rPr dirty="0"/>
              <a:t>creating</a:t>
            </a:r>
            <a:r>
              <a:rPr spc="-6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mutual</a:t>
            </a:r>
            <a:r>
              <a:rPr spc="-70" dirty="0"/>
              <a:t> </a:t>
            </a:r>
            <a:r>
              <a:rPr spc="-10" dirty="0"/>
              <a:t>benefit.</a:t>
            </a: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pc="-10" dirty="0"/>
          </a:p>
          <a:p>
            <a:pPr marL="12700" marR="305435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Non-</a:t>
            </a:r>
            <a:r>
              <a:rPr dirty="0"/>
              <a:t>Monetary</a:t>
            </a:r>
            <a:r>
              <a:rPr spc="-55" dirty="0"/>
              <a:t> </a:t>
            </a:r>
            <a:r>
              <a:rPr dirty="0"/>
              <a:t>Collaboration:</a:t>
            </a:r>
            <a:r>
              <a:rPr spc="-75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focus</a:t>
            </a:r>
            <a:r>
              <a:rPr spc="-85" dirty="0"/>
              <a:t> </a:t>
            </a:r>
            <a:r>
              <a:rPr dirty="0"/>
              <a:t>on</a:t>
            </a:r>
            <a:r>
              <a:rPr spc="-75" dirty="0"/>
              <a:t> </a:t>
            </a:r>
            <a:r>
              <a:rPr spc="-10" dirty="0"/>
              <a:t>recommendations</a:t>
            </a:r>
            <a:r>
              <a:rPr spc="-55" dirty="0"/>
              <a:t> </a:t>
            </a:r>
            <a:r>
              <a:rPr spc="-25" dirty="0"/>
              <a:t>or </a:t>
            </a:r>
            <a:r>
              <a:rPr spc="-10" dirty="0"/>
              <a:t>acknowledgment</a:t>
            </a:r>
            <a:r>
              <a:rPr spc="-65" dirty="0"/>
              <a:t> </a:t>
            </a:r>
            <a:r>
              <a:rPr dirty="0"/>
              <a:t>from</a:t>
            </a:r>
            <a:r>
              <a:rPr spc="-85" dirty="0"/>
              <a:t> </a:t>
            </a:r>
            <a:r>
              <a:rPr dirty="0"/>
              <a:t>startups,</a:t>
            </a:r>
            <a:r>
              <a:rPr spc="-80" dirty="0"/>
              <a:t> </a:t>
            </a:r>
            <a:r>
              <a:rPr dirty="0"/>
              <a:t>rather</a:t>
            </a:r>
            <a:r>
              <a:rPr spc="-85" dirty="0"/>
              <a:t> </a:t>
            </a:r>
            <a:r>
              <a:rPr dirty="0"/>
              <a:t>than</a:t>
            </a:r>
            <a:r>
              <a:rPr spc="-90" dirty="0"/>
              <a:t> </a:t>
            </a:r>
            <a:r>
              <a:rPr dirty="0"/>
              <a:t>monetary</a:t>
            </a:r>
            <a:r>
              <a:rPr spc="-65" dirty="0"/>
              <a:t> </a:t>
            </a:r>
            <a:r>
              <a:rPr spc="-10" dirty="0"/>
              <a:t>compensation, </a:t>
            </a:r>
            <a:r>
              <a:rPr dirty="0"/>
              <a:t>allows</a:t>
            </a:r>
            <a:r>
              <a:rPr spc="-55" dirty="0"/>
              <a:t> </a:t>
            </a:r>
            <a:r>
              <a:rPr dirty="0"/>
              <a:t>for</a:t>
            </a:r>
            <a:r>
              <a:rPr spc="-6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unique,</a:t>
            </a:r>
            <a:r>
              <a:rPr spc="-60" dirty="0"/>
              <a:t> </a:t>
            </a:r>
            <a:r>
              <a:rPr spc="-10" dirty="0"/>
              <a:t>non-</a:t>
            </a:r>
            <a:r>
              <a:rPr dirty="0"/>
              <a:t>financial</a:t>
            </a:r>
            <a:r>
              <a:rPr spc="-50" dirty="0"/>
              <a:t> </a:t>
            </a:r>
            <a:r>
              <a:rPr dirty="0"/>
              <a:t>relationship</a:t>
            </a:r>
            <a:r>
              <a:rPr spc="-65" dirty="0"/>
              <a:t> </a:t>
            </a:r>
            <a:r>
              <a:rPr dirty="0"/>
              <a:t>that</a:t>
            </a:r>
            <a:r>
              <a:rPr spc="-70" dirty="0"/>
              <a:t> </a:t>
            </a:r>
            <a:r>
              <a:rPr dirty="0"/>
              <a:t>can</a:t>
            </a:r>
            <a:r>
              <a:rPr spc="-60" dirty="0"/>
              <a:t> </a:t>
            </a:r>
            <a:r>
              <a:rPr dirty="0"/>
              <a:t>be</a:t>
            </a:r>
            <a:r>
              <a:rPr spc="-50" dirty="0"/>
              <a:t> </a:t>
            </a:r>
            <a:r>
              <a:rPr spc="-20" dirty="0"/>
              <a:t>more </a:t>
            </a:r>
            <a:r>
              <a:rPr dirty="0"/>
              <a:t>appealing</a:t>
            </a:r>
            <a:r>
              <a:rPr spc="-65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startups</a:t>
            </a:r>
            <a:r>
              <a:rPr spc="-8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educational</a:t>
            </a:r>
            <a:r>
              <a:rPr spc="-75" dirty="0"/>
              <a:t> </a:t>
            </a:r>
            <a:r>
              <a:rPr dirty="0"/>
              <a:t>for</a:t>
            </a:r>
            <a:r>
              <a:rPr spc="-80" dirty="0"/>
              <a:t> </a:t>
            </a:r>
            <a:r>
              <a:rPr spc="-10" dirty="0"/>
              <a:t>students.</a:t>
            </a: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pc="-10" dirty="0"/>
          </a:p>
          <a:p>
            <a:pPr marL="12700" marR="5080">
              <a:lnSpc>
                <a:spcPct val="100000"/>
              </a:lnSpc>
            </a:pPr>
            <a:r>
              <a:rPr dirty="0"/>
              <a:t>Streamlined</a:t>
            </a:r>
            <a:r>
              <a:rPr spc="-75" dirty="0"/>
              <a:t> </a:t>
            </a:r>
            <a:r>
              <a:rPr dirty="0"/>
              <a:t>Solution</a:t>
            </a:r>
            <a:r>
              <a:rPr spc="-105" dirty="0"/>
              <a:t> </a:t>
            </a:r>
            <a:r>
              <a:rPr dirty="0"/>
              <a:t>Submission</a:t>
            </a:r>
            <a:r>
              <a:rPr spc="-85" dirty="0"/>
              <a:t> </a:t>
            </a:r>
            <a:r>
              <a:rPr dirty="0"/>
              <a:t>via</a:t>
            </a:r>
            <a:r>
              <a:rPr spc="-105" dirty="0"/>
              <a:t> </a:t>
            </a:r>
            <a:r>
              <a:rPr dirty="0"/>
              <a:t>Pull</a:t>
            </a:r>
            <a:r>
              <a:rPr spc="-90" dirty="0"/>
              <a:t> </a:t>
            </a:r>
            <a:r>
              <a:rPr dirty="0"/>
              <a:t>Request</a:t>
            </a:r>
            <a:r>
              <a:rPr spc="-100" dirty="0"/>
              <a:t> </a:t>
            </a:r>
            <a:r>
              <a:rPr dirty="0"/>
              <a:t>System:</a:t>
            </a:r>
            <a:r>
              <a:rPr spc="-105" dirty="0"/>
              <a:t> </a:t>
            </a:r>
            <a:r>
              <a:rPr spc="-20" dirty="0"/>
              <a:t>This </a:t>
            </a:r>
            <a:r>
              <a:rPr dirty="0"/>
              <a:t>system</a:t>
            </a:r>
            <a:r>
              <a:rPr spc="-85" dirty="0"/>
              <a:t> </a:t>
            </a:r>
            <a:r>
              <a:rPr dirty="0"/>
              <a:t>allows</a:t>
            </a:r>
            <a:r>
              <a:rPr spc="-55" dirty="0"/>
              <a:t> </a:t>
            </a:r>
            <a:r>
              <a:rPr dirty="0"/>
              <a:t>students</a:t>
            </a:r>
            <a:r>
              <a:rPr spc="-7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propose</a:t>
            </a:r>
            <a:r>
              <a:rPr spc="-75" dirty="0"/>
              <a:t> </a:t>
            </a:r>
            <a:r>
              <a:rPr dirty="0"/>
              <a:t>solutions</a:t>
            </a:r>
            <a:r>
              <a:rPr spc="-65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dirty="0"/>
              <a:t>way</a:t>
            </a:r>
            <a:r>
              <a:rPr spc="-60" dirty="0"/>
              <a:t> </a:t>
            </a:r>
            <a:r>
              <a:rPr dirty="0"/>
              <a:t>that</a:t>
            </a:r>
            <a:r>
              <a:rPr spc="-70" dirty="0"/>
              <a:t> </a:t>
            </a:r>
            <a:r>
              <a:rPr dirty="0"/>
              <a:t>mimics</a:t>
            </a:r>
            <a:r>
              <a:rPr spc="-55" dirty="0"/>
              <a:t> </a:t>
            </a:r>
            <a:r>
              <a:rPr spc="-10" dirty="0"/>
              <a:t>real- </a:t>
            </a:r>
            <a:r>
              <a:rPr dirty="0"/>
              <a:t>world</a:t>
            </a:r>
            <a:r>
              <a:rPr spc="-70" dirty="0"/>
              <a:t> </a:t>
            </a:r>
            <a:r>
              <a:rPr dirty="0"/>
              <a:t>software</a:t>
            </a:r>
            <a:r>
              <a:rPr spc="-80" dirty="0"/>
              <a:t> </a:t>
            </a:r>
            <a:r>
              <a:rPr dirty="0"/>
              <a:t>development</a:t>
            </a:r>
            <a:r>
              <a:rPr spc="-75" dirty="0"/>
              <a:t> </a:t>
            </a:r>
            <a:r>
              <a:rPr dirty="0"/>
              <a:t>practices,</a:t>
            </a:r>
            <a:r>
              <a:rPr spc="-80" dirty="0"/>
              <a:t> </a:t>
            </a:r>
            <a:r>
              <a:rPr dirty="0"/>
              <a:t>helping</a:t>
            </a:r>
            <a:r>
              <a:rPr spc="-85" dirty="0"/>
              <a:t> </a:t>
            </a:r>
            <a:r>
              <a:rPr dirty="0"/>
              <a:t>them</a:t>
            </a:r>
            <a:r>
              <a:rPr spc="-70" dirty="0"/>
              <a:t> </a:t>
            </a:r>
            <a:r>
              <a:rPr dirty="0"/>
              <a:t>gain</a:t>
            </a:r>
            <a:r>
              <a:rPr spc="-80" dirty="0"/>
              <a:t> </a:t>
            </a:r>
            <a:r>
              <a:rPr spc="-10" dirty="0"/>
              <a:t>hands-</a:t>
            </a:r>
            <a:r>
              <a:rPr spc="-25" dirty="0"/>
              <a:t>on </a:t>
            </a:r>
            <a:r>
              <a:rPr spc="-10" dirty="0"/>
              <a:t>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0115"/>
            <a:ext cx="6466840" cy="952500"/>
            <a:chOff x="0" y="620115"/>
            <a:chExt cx="6466840" cy="952500"/>
          </a:xfrm>
        </p:grpSpPr>
        <p:sp>
          <p:nvSpPr>
            <p:cNvPr id="3" name="object 3"/>
            <p:cNvSpPr/>
            <p:nvPr/>
          </p:nvSpPr>
          <p:spPr>
            <a:xfrm>
              <a:off x="0" y="1505607"/>
              <a:ext cx="6466840" cy="67310"/>
            </a:xfrm>
            <a:custGeom>
              <a:avLst/>
              <a:gdLst/>
              <a:ahLst/>
              <a:cxnLst/>
              <a:rect l="l" t="t" r="r" b="b"/>
              <a:pathLst>
                <a:path w="6466840" h="67309">
                  <a:moveTo>
                    <a:pt x="6466586" y="0"/>
                  </a:moveTo>
                  <a:lnTo>
                    <a:pt x="0" y="0"/>
                  </a:lnTo>
                  <a:lnTo>
                    <a:pt x="0" y="66906"/>
                  </a:lnTo>
                  <a:lnTo>
                    <a:pt x="6466586" y="66906"/>
                  </a:lnTo>
                  <a:lnTo>
                    <a:pt x="6466586" y="0"/>
                  </a:lnTo>
                  <a:close/>
                </a:path>
              </a:pathLst>
            </a:custGeom>
            <a:solidFill>
              <a:srgbClr val="362F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20115"/>
              <a:ext cx="6466840" cy="885825"/>
            </a:xfrm>
            <a:custGeom>
              <a:avLst/>
              <a:gdLst/>
              <a:ahLst/>
              <a:cxnLst/>
              <a:rect l="l" t="t" r="r" b="b"/>
              <a:pathLst>
                <a:path w="6466840" h="885825">
                  <a:moveTo>
                    <a:pt x="6466586" y="0"/>
                  </a:moveTo>
                  <a:lnTo>
                    <a:pt x="0" y="0"/>
                  </a:lnTo>
                  <a:lnTo>
                    <a:pt x="0" y="885596"/>
                  </a:lnTo>
                  <a:lnTo>
                    <a:pt x="6466586" y="885596"/>
                  </a:lnTo>
                  <a:lnTo>
                    <a:pt x="6466586" y="0"/>
                  </a:lnTo>
                  <a:close/>
                </a:path>
              </a:pathLst>
            </a:custGeom>
            <a:solidFill>
              <a:srgbClr val="77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" algn="ctr">
              <a:lnSpc>
                <a:spcPct val="100000"/>
              </a:lnSpc>
              <a:spcBef>
                <a:spcPts val="100"/>
              </a:spcBef>
            </a:pPr>
            <a:r>
              <a:rPr spc="-420" dirty="0"/>
              <a:t>F</a:t>
            </a:r>
            <a:r>
              <a:rPr spc="-434" dirty="0"/>
              <a:t>U</a:t>
            </a:r>
            <a:r>
              <a:rPr spc="-420" dirty="0"/>
              <a:t>T</a:t>
            </a:r>
            <a:r>
              <a:rPr spc="-434" dirty="0"/>
              <a:t>UR</a:t>
            </a:r>
            <a:r>
              <a:rPr spc="204" dirty="0"/>
              <a:t>E</a:t>
            </a:r>
            <a:r>
              <a:rPr spc="-300" dirty="0"/>
              <a:t>S</a:t>
            </a:r>
            <a:r>
              <a:rPr spc="-315" dirty="0"/>
              <a:t>CO</a:t>
            </a:r>
            <a:r>
              <a:rPr spc="-300" dirty="0"/>
              <a:t>P</a:t>
            </a:r>
            <a:r>
              <a:rPr spc="-15" dirty="0"/>
              <a:t>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0"/>
              </a:lnSpc>
            </a:pPr>
            <a:r>
              <a:rPr spc="-25" dirty="0"/>
              <a:t>Organized</a:t>
            </a:r>
            <a:r>
              <a:rPr spc="-110" dirty="0"/>
              <a:t> </a:t>
            </a:r>
            <a:r>
              <a:rPr spc="-25" dirty="0"/>
              <a:t>by: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3540" y="1967229"/>
            <a:ext cx="12195810" cy="4719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3787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"/>
                <a:cs typeface="Arial"/>
              </a:rPr>
              <a:t>Enhanced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Collaboration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Tools: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Integrate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collaboration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tools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such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chat </a:t>
            </a:r>
            <a:r>
              <a:rPr sz="2800" dirty="0">
                <a:latin typeface="Arial"/>
                <a:cs typeface="Arial"/>
              </a:rPr>
              <a:t>systems,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video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conferencing,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shared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workspaces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for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better </a:t>
            </a:r>
            <a:r>
              <a:rPr sz="2800" dirty="0">
                <a:latin typeface="Arial"/>
                <a:cs typeface="Arial"/>
              </a:rPr>
              <a:t>communication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between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students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startups.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800">
              <a:latin typeface="Arial"/>
              <a:cs typeface="Arial"/>
            </a:endParaRPr>
          </a:p>
          <a:p>
            <a:pPr marL="12700" marR="226695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Arial"/>
                <a:cs typeface="Arial"/>
              </a:rPr>
              <a:t>Project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Showcasing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for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Students: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Allow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students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showcase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completed </a:t>
            </a:r>
            <a:r>
              <a:rPr sz="2800" dirty="0">
                <a:latin typeface="Arial"/>
                <a:cs typeface="Arial"/>
              </a:rPr>
              <a:t>projects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their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profiles,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which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they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share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with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future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employers,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acting </a:t>
            </a:r>
            <a:r>
              <a:rPr sz="2800" dirty="0">
                <a:latin typeface="Arial"/>
                <a:cs typeface="Arial"/>
              </a:rPr>
              <a:t>as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portfolio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their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work.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Gamification: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Introduce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gamification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elements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such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leaderboards, </a:t>
            </a:r>
            <a:r>
              <a:rPr sz="2800" dirty="0">
                <a:latin typeface="Arial"/>
                <a:cs typeface="Arial"/>
              </a:rPr>
              <a:t>challenges,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rewards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for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students,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which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would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increase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engagement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and </a:t>
            </a:r>
            <a:r>
              <a:rPr sz="2800" dirty="0">
                <a:latin typeface="Arial"/>
                <a:cs typeface="Arial"/>
              </a:rPr>
              <a:t>motivate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them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participate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more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actively.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0115"/>
            <a:ext cx="7806055" cy="952500"/>
            <a:chOff x="0" y="620115"/>
            <a:chExt cx="7806055" cy="952500"/>
          </a:xfrm>
        </p:grpSpPr>
        <p:sp>
          <p:nvSpPr>
            <p:cNvPr id="3" name="object 3"/>
            <p:cNvSpPr/>
            <p:nvPr/>
          </p:nvSpPr>
          <p:spPr>
            <a:xfrm>
              <a:off x="0" y="1505607"/>
              <a:ext cx="7751445" cy="67310"/>
            </a:xfrm>
            <a:custGeom>
              <a:avLst/>
              <a:gdLst/>
              <a:ahLst/>
              <a:cxnLst/>
              <a:rect l="l" t="t" r="r" b="b"/>
              <a:pathLst>
                <a:path w="7751445" h="67309">
                  <a:moveTo>
                    <a:pt x="7751064" y="0"/>
                  </a:moveTo>
                  <a:lnTo>
                    <a:pt x="0" y="0"/>
                  </a:lnTo>
                  <a:lnTo>
                    <a:pt x="0" y="66906"/>
                  </a:lnTo>
                  <a:lnTo>
                    <a:pt x="7751064" y="66906"/>
                  </a:lnTo>
                  <a:lnTo>
                    <a:pt x="7751064" y="0"/>
                  </a:lnTo>
                  <a:close/>
                </a:path>
              </a:pathLst>
            </a:custGeom>
            <a:solidFill>
              <a:srgbClr val="362F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20115"/>
              <a:ext cx="7806055" cy="885825"/>
            </a:xfrm>
            <a:custGeom>
              <a:avLst/>
              <a:gdLst/>
              <a:ahLst/>
              <a:cxnLst/>
              <a:rect l="l" t="t" r="r" b="b"/>
              <a:pathLst>
                <a:path w="7806055" h="885825">
                  <a:moveTo>
                    <a:pt x="7805801" y="0"/>
                  </a:moveTo>
                  <a:lnTo>
                    <a:pt x="0" y="0"/>
                  </a:lnTo>
                  <a:lnTo>
                    <a:pt x="0" y="885596"/>
                  </a:lnTo>
                  <a:lnTo>
                    <a:pt x="7805801" y="885596"/>
                  </a:lnTo>
                  <a:lnTo>
                    <a:pt x="7805801" y="0"/>
                  </a:lnTo>
                  <a:close/>
                </a:path>
              </a:pathLst>
            </a:custGeom>
            <a:solidFill>
              <a:srgbClr val="77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0" y="782193"/>
            <a:ext cx="78060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058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DEPENDENCIES</a:t>
            </a:r>
            <a:r>
              <a:rPr spc="-615" dirty="0"/>
              <a:t> </a:t>
            </a:r>
            <a:r>
              <a:rPr dirty="0"/>
              <a:t>/</a:t>
            </a:r>
            <a:r>
              <a:rPr spc="210" dirty="0"/>
              <a:t> </a:t>
            </a:r>
            <a:r>
              <a:rPr spc="-155" dirty="0"/>
              <a:t>SHOW</a:t>
            </a:r>
            <a:r>
              <a:rPr spc="-515" dirty="0"/>
              <a:t> </a:t>
            </a:r>
            <a:r>
              <a:rPr spc="-335" dirty="0"/>
              <a:t>STOPPER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0"/>
              </a:lnSpc>
            </a:pPr>
            <a:r>
              <a:rPr spc="-25" dirty="0"/>
              <a:t>Organized</a:t>
            </a:r>
            <a:r>
              <a:rPr spc="-110" dirty="0"/>
              <a:t> </a:t>
            </a:r>
            <a:r>
              <a:rPr spc="-25" dirty="0"/>
              <a:t>by: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7340" y="1814829"/>
            <a:ext cx="11718290" cy="6000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"/>
                <a:cs typeface="Arial"/>
              </a:rPr>
              <a:t>Low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User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Engagement:</a:t>
            </a:r>
            <a:endParaRPr sz="2800">
              <a:latin typeface="Arial"/>
              <a:cs typeface="Arial"/>
            </a:endParaRPr>
          </a:p>
          <a:p>
            <a:pPr marL="12700" marR="226060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Without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sufficient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number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startups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posting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problems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or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students </a:t>
            </a:r>
            <a:r>
              <a:rPr sz="2800" dirty="0">
                <a:latin typeface="Arial"/>
                <a:cs typeface="Arial"/>
              </a:rPr>
              <a:t>submitting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solutions,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platform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may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fail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serve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its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purpose,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becoming inactive.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Arial"/>
                <a:cs typeface="Arial"/>
              </a:rPr>
              <a:t>Technological</a:t>
            </a:r>
            <a:r>
              <a:rPr sz="2800" spc="-1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Failures: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Bugs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or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failures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frontend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(React.js)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or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backend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(Node.js)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code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could </a:t>
            </a:r>
            <a:r>
              <a:rPr sz="2800" dirty="0">
                <a:latin typeface="Arial"/>
                <a:cs typeface="Arial"/>
              </a:rPr>
              <a:t>block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users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from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using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platform’s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core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features,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such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as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submitting </a:t>
            </a:r>
            <a:r>
              <a:rPr sz="2800" dirty="0">
                <a:latin typeface="Arial"/>
                <a:cs typeface="Arial"/>
              </a:rPr>
              <a:t>problem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statements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or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proposals.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User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Base:</a:t>
            </a:r>
            <a:endParaRPr sz="2800">
              <a:latin typeface="Arial"/>
              <a:cs typeface="Arial"/>
            </a:endParaRPr>
          </a:p>
          <a:p>
            <a:pPr marL="12700" marR="43815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You’ll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rely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active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participation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from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both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startups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students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for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platform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be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successful.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Getting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both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parties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engaged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ensuring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they </a:t>
            </a:r>
            <a:r>
              <a:rPr sz="2800" dirty="0">
                <a:latin typeface="Arial"/>
                <a:cs typeface="Arial"/>
              </a:rPr>
              <a:t>use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platform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effectively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crucial.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564D5-9AD4-9FF4-8379-027AC5F9F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B81235D-A369-5F6C-6DD1-2BF97A3E6E49}"/>
              </a:ext>
            </a:extLst>
          </p:cNvPr>
          <p:cNvGrpSpPr/>
          <p:nvPr/>
        </p:nvGrpSpPr>
        <p:grpSpPr>
          <a:xfrm>
            <a:off x="0" y="620115"/>
            <a:ext cx="7806055" cy="952500"/>
            <a:chOff x="0" y="620115"/>
            <a:chExt cx="7806055" cy="952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FDD9518E-3160-48A1-B15C-2B3C0B9709FA}"/>
                </a:ext>
              </a:extLst>
            </p:cNvPr>
            <p:cNvSpPr/>
            <p:nvPr/>
          </p:nvSpPr>
          <p:spPr>
            <a:xfrm>
              <a:off x="0" y="1505607"/>
              <a:ext cx="7751445" cy="67310"/>
            </a:xfrm>
            <a:custGeom>
              <a:avLst/>
              <a:gdLst/>
              <a:ahLst/>
              <a:cxnLst/>
              <a:rect l="l" t="t" r="r" b="b"/>
              <a:pathLst>
                <a:path w="7751445" h="67309">
                  <a:moveTo>
                    <a:pt x="7751064" y="0"/>
                  </a:moveTo>
                  <a:lnTo>
                    <a:pt x="0" y="0"/>
                  </a:lnTo>
                  <a:lnTo>
                    <a:pt x="0" y="66906"/>
                  </a:lnTo>
                  <a:lnTo>
                    <a:pt x="7751064" y="66906"/>
                  </a:lnTo>
                  <a:lnTo>
                    <a:pt x="7751064" y="0"/>
                  </a:lnTo>
                  <a:close/>
                </a:path>
              </a:pathLst>
            </a:custGeom>
            <a:solidFill>
              <a:srgbClr val="362F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4ABC9EB-EC57-9F6D-982C-8AC28DEA01A7}"/>
                </a:ext>
              </a:extLst>
            </p:cNvPr>
            <p:cNvSpPr/>
            <p:nvPr/>
          </p:nvSpPr>
          <p:spPr>
            <a:xfrm>
              <a:off x="0" y="620115"/>
              <a:ext cx="7806055" cy="885825"/>
            </a:xfrm>
            <a:custGeom>
              <a:avLst/>
              <a:gdLst/>
              <a:ahLst/>
              <a:cxnLst/>
              <a:rect l="l" t="t" r="r" b="b"/>
              <a:pathLst>
                <a:path w="7806055" h="885825">
                  <a:moveTo>
                    <a:pt x="7805801" y="0"/>
                  </a:moveTo>
                  <a:lnTo>
                    <a:pt x="0" y="0"/>
                  </a:lnTo>
                  <a:lnTo>
                    <a:pt x="0" y="885596"/>
                  </a:lnTo>
                  <a:lnTo>
                    <a:pt x="7805801" y="885596"/>
                  </a:lnTo>
                  <a:lnTo>
                    <a:pt x="7805801" y="0"/>
                  </a:lnTo>
                  <a:close/>
                </a:path>
              </a:pathLst>
            </a:custGeom>
            <a:solidFill>
              <a:srgbClr val="77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683BA280-DFF3-0818-5E2F-10969D6820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782193"/>
            <a:ext cx="78060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0580">
              <a:lnSpc>
                <a:spcPct val="100000"/>
              </a:lnSpc>
              <a:spcBef>
                <a:spcPts val="100"/>
              </a:spcBef>
            </a:pPr>
            <a:r>
              <a:rPr lang="en-IN" spc="-325" dirty="0"/>
              <a:t>Features of Solution </a:t>
            </a:r>
            <a:r>
              <a:rPr spc="-615" dirty="0"/>
              <a:t> </a:t>
            </a:r>
            <a:endParaRPr spc="-33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61EC31D-9B6A-5804-EE62-8C48E86CA17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0"/>
              </a:lnSpc>
            </a:pPr>
            <a:r>
              <a:rPr spc="-25" dirty="0"/>
              <a:t>Organized</a:t>
            </a:r>
            <a:r>
              <a:rPr spc="-110" dirty="0"/>
              <a:t> </a:t>
            </a:r>
            <a:r>
              <a:rPr spc="-25" dirty="0"/>
              <a:t>by: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8C3C798-237E-C42A-78FD-AAA6BDDD0C42}"/>
              </a:ext>
            </a:extLst>
          </p:cNvPr>
          <p:cNvSpPr txBox="1"/>
          <p:nvPr/>
        </p:nvSpPr>
        <p:spPr>
          <a:xfrm>
            <a:off x="307340" y="1814829"/>
            <a:ext cx="11718290" cy="659090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2800" spc="-10" dirty="0">
                <a:latin typeface="Arial"/>
                <a:cs typeface="Arial"/>
              </a:rPr>
              <a:t>Simplified Collaboration : A platform that bridges the gap between startups and students, facilitating mutual benefits through meaningful projects.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IN" sz="2800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2800" spc="-10" dirty="0">
                <a:latin typeface="Arial"/>
                <a:cs typeface="Arial"/>
              </a:rPr>
              <a:t>Problem Statement Posting : Startups can post real-world problem statements in a structured format, accessible to students.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IN" sz="2800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2800" spc="-10" dirty="0">
                <a:latin typeface="Arial"/>
                <a:cs typeface="Arial"/>
              </a:rPr>
              <a:t>Proposal Submission and Feedback : Students can submit tailored proposals for problem statements and refine them based on feedback.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IN" sz="2800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2800" spc="-10" dirty="0">
                <a:latin typeface="Arial"/>
                <a:cs typeface="Arial"/>
              </a:rPr>
              <a:t>Non-Monetary Rewards : Focus on certificates, LORs, and portfolio building opportunities for students.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IN" sz="2800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2800" spc="-10" dirty="0">
                <a:latin typeface="Arial"/>
                <a:cs typeface="Arial"/>
              </a:rPr>
              <a:t>Role based dashboards : Separate dashboards for students and startups, ensuring streamlined and efficient interaction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9419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63EA1-EA70-7A8F-B05F-81B9918AC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F289373-7E89-A8AC-BB76-095747436F56}"/>
              </a:ext>
            </a:extLst>
          </p:cNvPr>
          <p:cNvGrpSpPr/>
          <p:nvPr/>
        </p:nvGrpSpPr>
        <p:grpSpPr>
          <a:xfrm>
            <a:off x="0" y="620115"/>
            <a:ext cx="7806055" cy="952500"/>
            <a:chOff x="0" y="620115"/>
            <a:chExt cx="7806055" cy="952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EA5501AA-F9CE-40D1-FA10-CB983BBA71DB}"/>
                </a:ext>
              </a:extLst>
            </p:cNvPr>
            <p:cNvSpPr/>
            <p:nvPr/>
          </p:nvSpPr>
          <p:spPr>
            <a:xfrm>
              <a:off x="0" y="1505607"/>
              <a:ext cx="7751445" cy="67310"/>
            </a:xfrm>
            <a:custGeom>
              <a:avLst/>
              <a:gdLst/>
              <a:ahLst/>
              <a:cxnLst/>
              <a:rect l="l" t="t" r="r" b="b"/>
              <a:pathLst>
                <a:path w="7751445" h="67309">
                  <a:moveTo>
                    <a:pt x="7751064" y="0"/>
                  </a:moveTo>
                  <a:lnTo>
                    <a:pt x="0" y="0"/>
                  </a:lnTo>
                  <a:lnTo>
                    <a:pt x="0" y="66906"/>
                  </a:lnTo>
                  <a:lnTo>
                    <a:pt x="7751064" y="66906"/>
                  </a:lnTo>
                  <a:lnTo>
                    <a:pt x="7751064" y="0"/>
                  </a:lnTo>
                  <a:close/>
                </a:path>
              </a:pathLst>
            </a:custGeom>
            <a:solidFill>
              <a:srgbClr val="362F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CECAEAA-B283-1069-2334-B07D78EB1BE8}"/>
                </a:ext>
              </a:extLst>
            </p:cNvPr>
            <p:cNvSpPr/>
            <p:nvPr/>
          </p:nvSpPr>
          <p:spPr>
            <a:xfrm>
              <a:off x="0" y="620115"/>
              <a:ext cx="7806055" cy="885825"/>
            </a:xfrm>
            <a:custGeom>
              <a:avLst/>
              <a:gdLst/>
              <a:ahLst/>
              <a:cxnLst/>
              <a:rect l="l" t="t" r="r" b="b"/>
              <a:pathLst>
                <a:path w="7806055" h="885825">
                  <a:moveTo>
                    <a:pt x="7805801" y="0"/>
                  </a:moveTo>
                  <a:lnTo>
                    <a:pt x="0" y="0"/>
                  </a:lnTo>
                  <a:lnTo>
                    <a:pt x="0" y="885596"/>
                  </a:lnTo>
                  <a:lnTo>
                    <a:pt x="7805801" y="885596"/>
                  </a:lnTo>
                  <a:lnTo>
                    <a:pt x="7805801" y="0"/>
                  </a:lnTo>
                  <a:close/>
                </a:path>
              </a:pathLst>
            </a:custGeom>
            <a:solidFill>
              <a:srgbClr val="77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2966BBBB-9729-5F7C-4C31-BB9EC23451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782193"/>
            <a:ext cx="78060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0580">
              <a:lnSpc>
                <a:spcPct val="100000"/>
              </a:lnSpc>
              <a:spcBef>
                <a:spcPts val="100"/>
              </a:spcBef>
            </a:pPr>
            <a:r>
              <a:rPr lang="en-IN" spc="-325" dirty="0"/>
              <a:t>Plan of action  and  Tasks Completed</a:t>
            </a:r>
            <a:endParaRPr spc="-33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972C7E3-4DBB-1A4B-766E-F69FFEABA15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0"/>
              </a:lnSpc>
            </a:pPr>
            <a:r>
              <a:rPr spc="-25" dirty="0"/>
              <a:t>Organized</a:t>
            </a:r>
            <a:r>
              <a:rPr spc="-110" dirty="0"/>
              <a:t> </a:t>
            </a:r>
            <a:r>
              <a:rPr spc="-25" dirty="0"/>
              <a:t>by: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0F43D3D-ADC4-57B0-38A9-BC420519663B}"/>
              </a:ext>
            </a:extLst>
          </p:cNvPr>
          <p:cNvSpPr txBox="1"/>
          <p:nvPr/>
        </p:nvSpPr>
        <p:spPr>
          <a:xfrm>
            <a:off x="228600" y="1539262"/>
            <a:ext cx="11718290" cy="70346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95"/>
              </a:spcBef>
              <a:buAutoNum type="arabicPeriod"/>
            </a:pPr>
            <a:r>
              <a:rPr lang="en-IN" sz="2800" dirty="0">
                <a:latin typeface="Arial"/>
                <a:cs typeface="Arial"/>
              </a:rPr>
              <a:t>Implement features for posting and managing problem statements.</a:t>
            </a:r>
          </a:p>
          <a:p>
            <a:pPr marL="527050" indent="-514350">
              <a:lnSpc>
                <a:spcPct val="100000"/>
              </a:lnSpc>
              <a:spcBef>
                <a:spcPts val="95"/>
              </a:spcBef>
              <a:buAutoNum type="arabicPeriod"/>
            </a:pPr>
            <a:r>
              <a:rPr lang="en-IN" sz="2800" dirty="0">
                <a:latin typeface="Arial"/>
                <a:cs typeface="Arial"/>
              </a:rPr>
              <a:t>Develop proposal submissions and review models</a:t>
            </a:r>
          </a:p>
          <a:p>
            <a:pPr marL="527050" indent="-514350">
              <a:lnSpc>
                <a:spcPct val="100000"/>
              </a:lnSpc>
              <a:spcBef>
                <a:spcPts val="95"/>
              </a:spcBef>
              <a:buAutoNum type="arabicPeriod"/>
            </a:pPr>
            <a:r>
              <a:rPr lang="en-IN" sz="2800" dirty="0">
                <a:latin typeface="Arial"/>
                <a:cs typeface="Arial"/>
              </a:rPr>
              <a:t>Set up progress tracking features.</a:t>
            </a:r>
          </a:p>
          <a:p>
            <a:pPr marL="527050" indent="-514350">
              <a:lnSpc>
                <a:spcPct val="100000"/>
              </a:lnSpc>
              <a:spcBef>
                <a:spcPts val="95"/>
              </a:spcBef>
              <a:buAutoNum type="arabicPeriod"/>
            </a:pPr>
            <a:r>
              <a:rPr lang="en-IN" sz="2800" dirty="0">
                <a:latin typeface="Arial"/>
                <a:cs typeface="Arial"/>
              </a:rPr>
              <a:t>Create intuitive interfaces for project tracking, dashboards etc.	</a:t>
            </a:r>
          </a:p>
          <a:p>
            <a:pPr marL="527050" indent="-514350">
              <a:lnSpc>
                <a:spcPct val="100000"/>
              </a:lnSpc>
              <a:spcBef>
                <a:spcPts val="95"/>
              </a:spcBef>
              <a:buAutoNum type="arabicPeriod"/>
            </a:pPr>
            <a:r>
              <a:rPr lang="en-IN" sz="2800" dirty="0">
                <a:latin typeface="Arial"/>
                <a:cs typeface="Arial"/>
              </a:rPr>
              <a:t>Build interactive dashboards for students and startups</a:t>
            </a:r>
          </a:p>
          <a:p>
            <a:pPr marL="527050" indent="-514350">
              <a:lnSpc>
                <a:spcPct val="100000"/>
              </a:lnSpc>
              <a:spcBef>
                <a:spcPts val="95"/>
              </a:spcBef>
              <a:buAutoNum type="arabicPeriod"/>
            </a:pPr>
            <a:r>
              <a:rPr lang="en-IN" sz="2800" dirty="0">
                <a:latin typeface="Arial"/>
                <a:cs typeface="Arial"/>
              </a:rPr>
              <a:t>Conduct testing and deployment of the platform.</a:t>
            </a:r>
          </a:p>
          <a:p>
            <a:pPr marL="527050" indent="-514350">
              <a:lnSpc>
                <a:spcPct val="100000"/>
              </a:lnSpc>
              <a:spcBef>
                <a:spcPts val="95"/>
              </a:spcBef>
              <a:buAutoNum type="arabicPeriod"/>
            </a:pPr>
            <a:endParaRPr lang="en-IN"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2800" dirty="0">
                <a:latin typeface="Arial"/>
                <a:cs typeface="Arial"/>
              </a:rPr>
              <a:t>Tasks Completed : </a:t>
            </a:r>
            <a:br>
              <a:rPr lang="en-IN" sz="2800" dirty="0">
                <a:latin typeface="Arial"/>
                <a:cs typeface="Arial"/>
              </a:rPr>
            </a:br>
            <a:r>
              <a:rPr lang="en-IN" sz="2800" dirty="0">
                <a:latin typeface="Arial"/>
                <a:cs typeface="Arial"/>
              </a:rPr>
              <a:t>Backend :</a:t>
            </a:r>
            <a:br>
              <a:rPr lang="en-IN" sz="2800" dirty="0">
                <a:latin typeface="Arial"/>
                <a:cs typeface="Arial"/>
              </a:rPr>
            </a:br>
            <a:r>
              <a:rPr lang="en-IN" sz="2800" dirty="0">
                <a:latin typeface="Arial"/>
                <a:cs typeface="Arial"/>
              </a:rPr>
              <a:t>Authentication Module : Role based registration and login implemented for both startups and students.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2800" dirty="0">
                <a:latin typeface="Arial"/>
                <a:cs typeface="Arial"/>
              </a:rPr>
              <a:t>Problem Statements : Module for startups to post and manage problem statement is functional. Also added startup email validation using a </a:t>
            </a:r>
            <a:r>
              <a:rPr lang="en-IN" sz="2800" dirty="0" err="1">
                <a:latin typeface="Arial"/>
                <a:cs typeface="Arial"/>
              </a:rPr>
              <a:t>npm</a:t>
            </a:r>
            <a:r>
              <a:rPr lang="en-IN" sz="2800" dirty="0">
                <a:latin typeface="Arial"/>
                <a:cs typeface="Arial"/>
              </a:rPr>
              <a:t> package for legitimacy of startups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2800" dirty="0">
                <a:latin typeface="Arial"/>
                <a:cs typeface="Arial"/>
              </a:rPr>
              <a:t>Frontend : Landing Home page designed with the best possible UI.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2800" dirty="0">
                <a:latin typeface="Arial"/>
                <a:cs typeface="Arial"/>
              </a:rPr>
              <a:t>Signup and Login Pages : Completed for both startups and students.</a:t>
            </a:r>
            <a:endParaRPr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6351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40029" y="408012"/>
            <a:ext cx="3159632" cy="5913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92836" y="1275461"/>
            <a:ext cx="4284599" cy="19420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38296" y="3342335"/>
            <a:ext cx="2083053" cy="38054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185007" y="2911551"/>
            <a:ext cx="15113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/>
                <a:cs typeface="Arial"/>
              </a:rPr>
              <a:t>Powered</a:t>
            </a:r>
            <a:r>
              <a:rPr sz="2000" b="1" spc="-16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by: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12699" y="8987917"/>
            <a:ext cx="18313400" cy="1311910"/>
            <a:chOff x="-12699" y="8987917"/>
            <a:chExt cx="18313400" cy="1311910"/>
          </a:xfrm>
        </p:grpSpPr>
        <p:sp>
          <p:nvSpPr>
            <p:cNvPr id="7" name="object 7"/>
            <p:cNvSpPr/>
            <p:nvPr/>
          </p:nvSpPr>
          <p:spPr>
            <a:xfrm>
              <a:off x="0" y="9000616"/>
              <a:ext cx="18288000" cy="1286510"/>
            </a:xfrm>
            <a:custGeom>
              <a:avLst/>
              <a:gdLst/>
              <a:ahLst/>
              <a:cxnLst/>
              <a:rect l="l" t="t" r="r" b="b"/>
              <a:pathLst>
                <a:path w="18288000" h="1286509">
                  <a:moveTo>
                    <a:pt x="18021427" y="0"/>
                  </a:moveTo>
                  <a:lnTo>
                    <a:pt x="266560" y="0"/>
                  </a:lnTo>
                  <a:lnTo>
                    <a:pt x="218643" y="4190"/>
                  </a:lnTo>
                  <a:lnTo>
                    <a:pt x="173545" y="16624"/>
                  </a:lnTo>
                  <a:lnTo>
                    <a:pt x="132016" y="36347"/>
                  </a:lnTo>
                  <a:lnTo>
                    <a:pt x="94815" y="62649"/>
                  </a:lnTo>
                  <a:lnTo>
                    <a:pt x="62689" y="94767"/>
                  </a:lnTo>
                  <a:lnTo>
                    <a:pt x="36391" y="131978"/>
                  </a:lnTo>
                  <a:lnTo>
                    <a:pt x="16676" y="173494"/>
                  </a:lnTo>
                  <a:lnTo>
                    <a:pt x="4293" y="218592"/>
                  </a:lnTo>
                  <a:lnTo>
                    <a:pt x="0" y="266509"/>
                  </a:lnTo>
                  <a:lnTo>
                    <a:pt x="0" y="1286382"/>
                  </a:lnTo>
                  <a:lnTo>
                    <a:pt x="18288000" y="1286382"/>
                  </a:lnTo>
                  <a:lnTo>
                    <a:pt x="18288000" y="266509"/>
                  </a:lnTo>
                  <a:lnTo>
                    <a:pt x="18282793" y="214261"/>
                  </a:lnTo>
                  <a:lnTo>
                    <a:pt x="18267680" y="164503"/>
                  </a:lnTo>
                  <a:lnTo>
                    <a:pt x="18243169" y="118630"/>
                  </a:lnTo>
                  <a:lnTo>
                    <a:pt x="18209895" y="78028"/>
                  </a:lnTo>
                  <a:lnTo>
                    <a:pt x="18169382" y="44742"/>
                  </a:lnTo>
                  <a:lnTo>
                    <a:pt x="18123408" y="20243"/>
                  </a:lnTo>
                  <a:lnTo>
                    <a:pt x="18073751" y="5079"/>
                  </a:lnTo>
                  <a:lnTo>
                    <a:pt x="18021427" y="0"/>
                  </a:lnTo>
                  <a:close/>
                </a:path>
              </a:pathLst>
            </a:custGeom>
            <a:solidFill>
              <a:srgbClr val="77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000616"/>
              <a:ext cx="18288000" cy="1286510"/>
            </a:xfrm>
            <a:custGeom>
              <a:avLst/>
              <a:gdLst/>
              <a:ahLst/>
              <a:cxnLst/>
              <a:rect l="l" t="t" r="r" b="b"/>
              <a:pathLst>
                <a:path w="18288000" h="1286509">
                  <a:moveTo>
                    <a:pt x="0" y="266509"/>
                  </a:moveTo>
                  <a:lnTo>
                    <a:pt x="4293" y="218592"/>
                  </a:lnTo>
                  <a:lnTo>
                    <a:pt x="16676" y="173494"/>
                  </a:lnTo>
                  <a:lnTo>
                    <a:pt x="36391" y="131978"/>
                  </a:lnTo>
                  <a:lnTo>
                    <a:pt x="62689" y="94767"/>
                  </a:lnTo>
                  <a:lnTo>
                    <a:pt x="94815" y="62649"/>
                  </a:lnTo>
                  <a:lnTo>
                    <a:pt x="132016" y="36347"/>
                  </a:lnTo>
                  <a:lnTo>
                    <a:pt x="173545" y="16624"/>
                  </a:lnTo>
                  <a:lnTo>
                    <a:pt x="218643" y="4190"/>
                  </a:lnTo>
                  <a:lnTo>
                    <a:pt x="266560" y="0"/>
                  </a:lnTo>
                  <a:lnTo>
                    <a:pt x="18021427" y="0"/>
                  </a:lnTo>
                  <a:lnTo>
                    <a:pt x="18073751" y="5079"/>
                  </a:lnTo>
                  <a:lnTo>
                    <a:pt x="18123408" y="20243"/>
                  </a:lnTo>
                  <a:lnTo>
                    <a:pt x="18169382" y="44742"/>
                  </a:lnTo>
                  <a:lnTo>
                    <a:pt x="18209895" y="78028"/>
                  </a:lnTo>
                  <a:lnTo>
                    <a:pt x="18243169" y="118630"/>
                  </a:lnTo>
                  <a:lnTo>
                    <a:pt x="18267680" y="164503"/>
                  </a:lnTo>
                  <a:lnTo>
                    <a:pt x="18282793" y="214261"/>
                  </a:lnTo>
                  <a:lnTo>
                    <a:pt x="18288000" y="266509"/>
                  </a:lnTo>
                  <a:lnTo>
                    <a:pt x="18288000" y="1286382"/>
                  </a:lnTo>
                </a:path>
                <a:path w="18288000" h="1286509">
                  <a:moveTo>
                    <a:pt x="0" y="1286382"/>
                  </a:moveTo>
                  <a:lnTo>
                    <a:pt x="0" y="266509"/>
                  </a:lnTo>
                </a:path>
              </a:pathLst>
            </a:custGeom>
            <a:ln w="25398">
              <a:solidFill>
                <a:srgbClr val="77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69817" y="9066709"/>
              <a:ext cx="2645791" cy="1106486"/>
            </a:xfrm>
            <a:prstGeom prst="rect">
              <a:avLst/>
            </a:prstGeom>
          </p:spPr>
        </p:pic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23645" y="3903979"/>
          <a:ext cx="16614774" cy="4535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67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9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8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79999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2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42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79999"/>
                    </a:solidFill>
                  </a:tcPr>
                </a:tc>
                <a:tc>
                  <a:txBody>
                    <a:bodyPr/>
                    <a:lstStyle/>
                    <a:p>
                      <a:pPr marL="1167130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Gender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42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7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95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Team</a:t>
                      </a:r>
                      <a:r>
                        <a:rPr sz="2400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Leader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78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124200">
                        <a:lnSpc>
                          <a:spcPts val="280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Arjun</a:t>
                      </a:r>
                      <a:r>
                        <a:rPr sz="2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Singh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160655" algn="ctr">
                        <a:lnSpc>
                          <a:spcPts val="2800"/>
                        </a:lnSpc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Male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195"/>
                        </a:spcBef>
                      </a:pPr>
                      <a:r>
                        <a:rPr sz="2400" spc="-65" dirty="0">
                          <a:latin typeface="Arial"/>
                          <a:cs typeface="Arial"/>
                        </a:rPr>
                        <a:t>Team</a:t>
                      </a:r>
                      <a:r>
                        <a:rPr sz="2400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Member</a:t>
                      </a:r>
                      <a:r>
                        <a:rPr sz="24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5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78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00">
                        <a:lnSpc>
                          <a:spcPts val="280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Priya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Tiwari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5720" algn="ctr">
                        <a:lnSpc>
                          <a:spcPts val="2800"/>
                        </a:lnSpc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Female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1390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195"/>
                        </a:spcBef>
                      </a:pPr>
                      <a:r>
                        <a:rPr sz="2400" spc="-65" dirty="0">
                          <a:latin typeface="Arial"/>
                          <a:cs typeface="Arial"/>
                        </a:rPr>
                        <a:t>Team</a:t>
                      </a:r>
                      <a:r>
                        <a:rPr sz="2400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Member</a:t>
                      </a:r>
                      <a:r>
                        <a:rPr sz="24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50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78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048000">
                        <a:lnSpc>
                          <a:spcPts val="280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Daksh</a:t>
                      </a:r>
                      <a:r>
                        <a:rPr sz="2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Patel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220470">
                        <a:lnSpc>
                          <a:spcPts val="2805"/>
                        </a:lnSpc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Male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200"/>
                        </a:spcBef>
                      </a:pPr>
                      <a:r>
                        <a:rPr sz="2400" spc="-65" dirty="0">
                          <a:latin typeface="Arial"/>
                          <a:cs typeface="Arial"/>
                        </a:rPr>
                        <a:t>Team</a:t>
                      </a:r>
                      <a:r>
                        <a:rPr sz="2400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Member</a:t>
                      </a:r>
                      <a:r>
                        <a:rPr sz="24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5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79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00">
                        <a:lnSpc>
                          <a:spcPts val="280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Vaishnavi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Javir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5720" algn="ctr">
                        <a:lnSpc>
                          <a:spcPts val="2805"/>
                        </a:lnSpc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Female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0" y="1505607"/>
            <a:ext cx="7751445" cy="67310"/>
          </a:xfrm>
          <a:custGeom>
            <a:avLst/>
            <a:gdLst/>
            <a:ahLst/>
            <a:cxnLst/>
            <a:rect l="l" t="t" r="r" b="b"/>
            <a:pathLst>
              <a:path w="7751445" h="67309">
                <a:moveTo>
                  <a:pt x="7751064" y="0"/>
                </a:moveTo>
                <a:lnTo>
                  <a:pt x="0" y="0"/>
                </a:lnTo>
                <a:lnTo>
                  <a:pt x="0" y="66906"/>
                </a:lnTo>
                <a:lnTo>
                  <a:pt x="7751064" y="66906"/>
                </a:lnTo>
                <a:lnTo>
                  <a:pt x="7751064" y="0"/>
                </a:lnTo>
                <a:close/>
              </a:path>
            </a:pathLst>
          </a:custGeom>
          <a:solidFill>
            <a:srgbClr val="362F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0" y="620013"/>
            <a:ext cx="7806055" cy="885825"/>
          </a:xfrm>
          <a:prstGeom prst="rect">
            <a:avLst/>
          </a:prstGeom>
          <a:solidFill>
            <a:srgbClr val="779999"/>
          </a:solidFill>
        </p:spPr>
        <p:txBody>
          <a:bodyPr vert="horz" wrap="square" lIns="0" tIns="17462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375"/>
              </a:spcBef>
            </a:pPr>
            <a:r>
              <a:rPr spc="-80" dirty="0"/>
              <a:t>Team</a:t>
            </a:r>
            <a:r>
              <a:rPr spc="-425" dirty="0"/>
              <a:t> </a:t>
            </a:r>
            <a:r>
              <a:rPr spc="-10" dirty="0"/>
              <a:t>Members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0"/>
              </a:lnSpc>
            </a:pPr>
            <a:r>
              <a:rPr spc="-25" dirty="0"/>
              <a:t>Organized</a:t>
            </a:r>
            <a:r>
              <a:rPr spc="-110" dirty="0"/>
              <a:t> </a:t>
            </a:r>
            <a:r>
              <a:rPr spc="-25" dirty="0"/>
              <a:t>by: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791</Words>
  <Application>Microsoft Office PowerPoint</Application>
  <PresentationFormat>Custom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Times New Roman</vt:lpstr>
      <vt:lpstr>Office Theme</vt:lpstr>
      <vt:lpstr>PS Title: Custom Collaboration Platform for Students and Startups</vt:lpstr>
      <vt:lpstr>Meet the Team</vt:lpstr>
      <vt:lpstr>IDEA / APPROACH DETAILS</vt:lpstr>
      <vt:lpstr>TECHNOLOGY STACK</vt:lpstr>
      <vt:lpstr>USPs OF YOUR IDEA</vt:lpstr>
      <vt:lpstr>FUTURESCOPE</vt:lpstr>
      <vt:lpstr>DEPENDENCIES / SHOW STOPPER</vt:lpstr>
      <vt:lpstr>Features of Solution  </vt:lpstr>
      <vt:lpstr>Plan of action  and  Tasks Completed</vt:lpstr>
      <vt:lpstr>Team Members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Template for T25.pptx</dc:title>
  <dc:creator>Arjun Singh</dc:creator>
  <cp:lastModifiedBy>Arjun Singh</cp:lastModifiedBy>
  <cp:revision>1</cp:revision>
  <dcterms:created xsi:type="dcterms:W3CDTF">2025-01-25T19:22:46Z</dcterms:created>
  <dcterms:modified xsi:type="dcterms:W3CDTF">2025-01-26T06:09:43Z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2024-09-21T00:00:00Z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2025-01-25T00:00:00Z</vt:filetime>
  </property>
  <property fmtid="{D5CDD505-2E9C-101B-9397-08002B2CF9AE}" pid="5" name="Producer">
    <vt:lpwstr>Microsoft® PowerPoint® for Microsoft 365</vt:lpwstr>
  </property>
</Properties>
</file>